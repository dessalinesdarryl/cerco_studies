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63" r:id="rId6"/>
    <p:sldId id="267" r:id="rId7"/>
    <p:sldId id="266" r:id="rId8"/>
    <p:sldId id="268" r:id="rId9"/>
    <p:sldId id="269" r:id="rId10"/>
    <p:sldId id="261" r:id="rId11"/>
    <p:sldId id="271" r:id="rId12"/>
    <p:sldId id="262" r:id="rId13"/>
    <p:sldId id="273" r:id="rId14"/>
    <p:sldId id="274" r:id="rId15"/>
    <p:sldId id="265" r:id="rId16"/>
    <p:sldId id="270" r:id="rId17"/>
    <p:sldId id="264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rryl Dessalines" initials="DD" lastIdx="10" clrIdx="0">
    <p:extLst>
      <p:ext uri="{19B8F6BF-5375-455C-9EA6-DF929625EA0E}">
        <p15:presenceInfo xmlns:p15="http://schemas.microsoft.com/office/powerpoint/2012/main" userId="S-1-5-21-3823849357-2230255537-1563912185-397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06T13:31:28.907" idx="3">
    <p:pos x="7092" y="2202"/>
    <p:text>Est-ce la bonne def ?</p:text>
    <p:extLst>
      <p:ext uri="{C676402C-5697-4E1C-873F-D02D1690AC5C}">
        <p15:threadingInfo xmlns:p15="http://schemas.microsoft.com/office/powerpoint/2012/main" timeZoneBias="-120"/>
      </p:ext>
    </p:extLst>
  </p:cm>
  <p:cm authorId="1" dt="2025-07-06T13:32:11.926" idx="4">
    <p:pos x="6552" y="3090"/>
    <p:text>Source ?</p:text>
    <p:extLst>
      <p:ext uri="{C676402C-5697-4E1C-873F-D02D1690AC5C}">
        <p15:threadingInfo xmlns:p15="http://schemas.microsoft.com/office/powerpoint/2012/main" timeZoneBias="-12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714ACB-692B-4FD7-8686-A15252FE87D1}" type="doc">
      <dgm:prSet loTypeId="urn:microsoft.com/office/officeart/2005/8/layout/chevron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B9A1C016-3730-4D0E-A54E-87520218069D}">
      <dgm:prSet phldrT="[Texte]"/>
      <dgm:spPr>
        <a:solidFill>
          <a:srgbClr val="44546A"/>
        </a:solidFill>
      </dgm:spPr>
      <dgm:t>
        <a:bodyPr/>
        <a:lstStyle/>
        <a:p>
          <a:r>
            <a:rPr lang="fr-FR" dirty="0"/>
            <a:t>#1</a:t>
          </a:r>
        </a:p>
      </dgm:t>
    </dgm:pt>
    <dgm:pt modelId="{B37C838C-5934-4CCB-B1ED-690DE4421FC8}" type="parTrans" cxnId="{C8FB51B4-F716-478B-98FA-3CAC5F3D1C63}">
      <dgm:prSet/>
      <dgm:spPr/>
      <dgm:t>
        <a:bodyPr/>
        <a:lstStyle/>
        <a:p>
          <a:endParaRPr lang="fr-FR"/>
        </a:p>
      </dgm:t>
    </dgm:pt>
    <dgm:pt modelId="{B2BB1C25-655E-45F8-995B-D2B40BA9FF96}" type="sibTrans" cxnId="{C8FB51B4-F716-478B-98FA-3CAC5F3D1C63}">
      <dgm:prSet/>
      <dgm:spPr/>
      <dgm:t>
        <a:bodyPr/>
        <a:lstStyle/>
        <a:p>
          <a:endParaRPr lang="fr-FR"/>
        </a:p>
      </dgm:t>
    </dgm:pt>
    <dgm:pt modelId="{50CC9445-9B58-4F00-B603-3E07055381E0}">
      <dgm:prSet phldrT="[Texte]"/>
      <dgm:spPr/>
      <dgm:t>
        <a:bodyPr/>
        <a:lstStyle/>
        <a:p>
          <a:r>
            <a:rPr lang="fr-FR" dirty="0"/>
            <a:t>Prétraitement des données</a:t>
          </a:r>
        </a:p>
      </dgm:t>
    </dgm:pt>
    <dgm:pt modelId="{093EAF9F-2F89-4A7D-95E7-7A1B8E84E5E7}" type="parTrans" cxnId="{E970084C-8D03-4A6D-9128-7D1AB6158A82}">
      <dgm:prSet/>
      <dgm:spPr/>
      <dgm:t>
        <a:bodyPr/>
        <a:lstStyle/>
        <a:p>
          <a:endParaRPr lang="fr-FR"/>
        </a:p>
      </dgm:t>
    </dgm:pt>
    <dgm:pt modelId="{7FCDADF1-B0A2-448A-984C-E1F1A8CBB94B}" type="sibTrans" cxnId="{E970084C-8D03-4A6D-9128-7D1AB6158A82}">
      <dgm:prSet/>
      <dgm:spPr/>
      <dgm:t>
        <a:bodyPr/>
        <a:lstStyle/>
        <a:p>
          <a:endParaRPr lang="fr-FR"/>
        </a:p>
      </dgm:t>
    </dgm:pt>
    <dgm:pt modelId="{38ADB08E-D173-42C8-8D76-467505E87E8E}">
      <dgm:prSet phldrT="[Texte]"/>
      <dgm:spPr/>
      <dgm:t>
        <a:bodyPr/>
        <a:lstStyle/>
        <a:p>
          <a:r>
            <a:rPr lang="fr-FR" dirty="0"/>
            <a:t>#2</a:t>
          </a:r>
        </a:p>
      </dgm:t>
    </dgm:pt>
    <dgm:pt modelId="{4F9D87DE-B1EB-480A-9C37-CCED9F1FAE9B}" type="parTrans" cxnId="{6680511B-EC65-49E5-BCE0-5C81010B9F0E}">
      <dgm:prSet/>
      <dgm:spPr/>
      <dgm:t>
        <a:bodyPr/>
        <a:lstStyle/>
        <a:p>
          <a:endParaRPr lang="fr-FR"/>
        </a:p>
      </dgm:t>
    </dgm:pt>
    <dgm:pt modelId="{8CAFBCE6-04DF-47E2-A592-BDC606869EEB}" type="sibTrans" cxnId="{6680511B-EC65-49E5-BCE0-5C81010B9F0E}">
      <dgm:prSet/>
      <dgm:spPr/>
      <dgm:t>
        <a:bodyPr/>
        <a:lstStyle/>
        <a:p>
          <a:endParaRPr lang="fr-FR"/>
        </a:p>
      </dgm:t>
    </dgm:pt>
    <dgm:pt modelId="{680D8A6F-6104-4468-8255-2887F61DA0FF}">
      <dgm:prSet phldrT="[Texte]"/>
      <dgm:spPr/>
      <dgm:t>
        <a:bodyPr/>
        <a:lstStyle/>
        <a:p>
          <a:r>
            <a:rPr lang="fr-FR" dirty="0"/>
            <a:t>Extraction des caractéristiques</a:t>
          </a:r>
        </a:p>
      </dgm:t>
    </dgm:pt>
    <dgm:pt modelId="{C993A404-1CE5-458F-AA5E-88B29782CE8A}" type="parTrans" cxnId="{45C5631F-5915-41A8-B2EB-E19E4FD54248}">
      <dgm:prSet/>
      <dgm:spPr/>
      <dgm:t>
        <a:bodyPr/>
        <a:lstStyle/>
        <a:p>
          <a:endParaRPr lang="fr-FR"/>
        </a:p>
      </dgm:t>
    </dgm:pt>
    <dgm:pt modelId="{165610DA-A137-4878-ACFC-8913FE526590}" type="sibTrans" cxnId="{45C5631F-5915-41A8-B2EB-E19E4FD54248}">
      <dgm:prSet/>
      <dgm:spPr/>
      <dgm:t>
        <a:bodyPr/>
        <a:lstStyle/>
        <a:p>
          <a:endParaRPr lang="fr-FR"/>
        </a:p>
      </dgm:t>
    </dgm:pt>
    <dgm:pt modelId="{936CDB5A-4D55-48AA-A477-0257872C9FF5}">
      <dgm:prSet phldrT="[Texte]"/>
      <dgm:spPr/>
      <dgm:t>
        <a:bodyPr/>
        <a:lstStyle/>
        <a:p>
          <a:r>
            <a:rPr lang="fr-FR" dirty="0"/>
            <a:t>#3</a:t>
          </a:r>
        </a:p>
      </dgm:t>
    </dgm:pt>
    <dgm:pt modelId="{B9EABA88-E8C4-49B1-83ED-985C17133B4E}" type="parTrans" cxnId="{47274CB9-363B-41F9-B226-BCF09043A550}">
      <dgm:prSet/>
      <dgm:spPr/>
      <dgm:t>
        <a:bodyPr/>
        <a:lstStyle/>
        <a:p>
          <a:endParaRPr lang="fr-FR"/>
        </a:p>
      </dgm:t>
    </dgm:pt>
    <dgm:pt modelId="{B715BB84-6002-46BC-901B-243B3EAAE531}" type="sibTrans" cxnId="{47274CB9-363B-41F9-B226-BCF09043A550}">
      <dgm:prSet/>
      <dgm:spPr/>
      <dgm:t>
        <a:bodyPr/>
        <a:lstStyle/>
        <a:p>
          <a:endParaRPr lang="fr-FR"/>
        </a:p>
      </dgm:t>
    </dgm:pt>
    <dgm:pt modelId="{6DFB4317-EF82-4E60-B8C5-82D9B58F943A}">
      <dgm:prSet phldrT="[Texte]"/>
      <dgm:spPr/>
      <dgm:t>
        <a:bodyPr/>
        <a:lstStyle/>
        <a:p>
          <a:r>
            <a:rPr lang="fr-FR" dirty="0"/>
            <a:t>Construction du modèle</a:t>
          </a:r>
        </a:p>
      </dgm:t>
    </dgm:pt>
    <dgm:pt modelId="{F1562D5C-DC8E-45E6-BD96-1C5211ED91FE}" type="parTrans" cxnId="{67920FF0-0515-49EB-9170-48DB59AE00DE}">
      <dgm:prSet/>
      <dgm:spPr/>
      <dgm:t>
        <a:bodyPr/>
        <a:lstStyle/>
        <a:p>
          <a:endParaRPr lang="fr-FR"/>
        </a:p>
      </dgm:t>
    </dgm:pt>
    <dgm:pt modelId="{C1C1B8E6-492E-4A33-81B5-071DF17E2ABF}" type="sibTrans" cxnId="{67920FF0-0515-49EB-9170-48DB59AE00DE}">
      <dgm:prSet/>
      <dgm:spPr/>
      <dgm:t>
        <a:bodyPr/>
        <a:lstStyle/>
        <a:p>
          <a:endParaRPr lang="fr-FR"/>
        </a:p>
      </dgm:t>
    </dgm:pt>
    <dgm:pt modelId="{71518D83-6741-4EAD-8914-ADCDF64B317D}" type="pres">
      <dgm:prSet presAssocID="{96714ACB-692B-4FD7-8686-A15252FE87D1}" presName="linearFlow" presStyleCnt="0">
        <dgm:presLayoutVars>
          <dgm:dir/>
          <dgm:animLvl val="lvl"/>
          <dgm:resizeHandles val="exact"/>
        </dgm:presLayoutVars>
      </dgm:prSet>
      <dgm:spPr/>
    </dgm:pt>
    <dgm:pt modelId="{72602F47-EDED-4A2F-9F10-664FFDE9A9C1}" type="pres">
      <dgm:prSet presAssocID="{B9A1C016-3730-4D0E-A54E-87520218069D}" presName="composite" presStyleCnt="0"/>
      <dgm:spPr/>
    </dgm:pt>
    <dgm:pt modelId="{6ABD4C50-FC73-4241-B9AE-865DD810FD60}" type="pres">
      <dgm:prSet presAssocID="{B9A1C016-3730-4D0E-A54E-87520218069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02B6291-B122-4E42-82CC-EB6D3D54CF66}" type="pres">
      <dgm:prSet presAssocID="{B9A1C016-3730-4D0E-A54E-87520218069D}" presName="descendantText" presStyleLbl="alignAcc1" presStyleIdx="0" presStyleCnt="3">
        <dgm:presLayoutVars>
          <dgm:bulletEnabled val="1"/>
        </dgm:presLayoutVars>
      </dgm:prSet>
      <dgm:spPr/>
    </dgm:pt>
    <dgm:pt modelId="{1F476B68-DB55-422D-B83C-BC69E6269344}" type="pres">
      <dgm:prSet presAssocID="{B2BB1C25-655E-45F8-995B-D2B40BA9FF96}" presName="sp" presStyleCnt="0"/>
      <dgm:spPr/>
    </dgm:pt>
    <dgm:pt modelId="{C0F585E9-729F-4836-B173-7ADDC105B62D}" type="pres">
      <dgm:prSet presAssocID="{38ADB08E-D173-42C8-8D76-467505E87E8E}" presName="composite" presStyleCnt="0"/>
      <dgm:spPr/>
    </dgm:pt>
    <dgm:pt modelId="{144574FE-BE83-4D57-89C7-7421A44AE584}" type="pres">
      <dgm:prSet presAssocID="{38ADB08E-D173-42C8-8D76-467505E87E8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65DD248-5882-4CB8-A37B-FE173AB1E9B1}" type="pres">
      <dgm:prSet presAssocID="{38ADB08E-D173-42C8-8D76-467505E87E8E}" presName="descendantText" presStyleLbl="alignAcc1" presStyleIdx="1" presStyleCnt="3">
        <dgm:presLayoutVars>
          <dgm:bulletEnabled val="1"/>
        </dgm:presLayoutVars>
      </dgm:prSet>
      <dgm:spPr/>
    </dgm:pt>
    <dgm:pt modelId="{BCFBDDC7-FC70-423C-82F3-B7C1D9ADBFBE}" type="pres">
      <dgm:prSet presAssocID="{8CAFBCE6-04DF-47E2-A592-BDC606869EEB}" presName="sp" presStyleCnt="0"/>
      <dgm:spPr/>
    </dgm:pt>
    <dgm:pt modelId="{3693C562-37C3-4A50-9667-1B0B1B52BAA2}" type="pres">
      <dgm:prSet presAssocID="{936CDB5A-4D55-48AA-A477-0257872C9FF5}" presName="composite" presStyleCnt="0"/>
      <dgm:spPr/>
    </dgm:pt>
    <dgm:pt modelId="{3BB2A06E-4411-4316-BD56-D0975D3D3A73}" type="pres">
      <dgm:prSet presAssocID="{936CDB5A-4D55-48AA-A477-0257872C9F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2646383-5F6E-46C0-AD8F-223FAEEBF2AC}" type="pres">
      <dgm:prSet presAssocID="{936CDB5A-4D55-48AA-A477-0257872C9FF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E217614-EF1A-4768-B2D0-77BB1C6E2837}" type="presOf" srcId="{B9A1C016-3730-4D0E-A54E-87520218069D}" destId="{6ABD4C50-FC73-4241-B9AE-865DD810FD60}" srcOrd="0" destOrd="0" presId="urn:microsoft.com/office/officeart/2005/8/layout/chevron2"/>
    <dgm:cxn modelId="{6680511B-EC65-49E5-BCE0-5C81010B9F0E}" srcId="{96714ACB-692B-4FD7-8686-A15252FE87D1}" destId="{38ADB08E-D173-42C8-8D76-467505E87E8E}" srcOrd="1" destOrd="0" parTransId="{4F9D87DE-B1EB-480A-9C37-CCED9F1FAE9B}" sibTransId="{8CAFBCE6-04DF-47E2-A592-BDC606869EEB}"/>
    <dgm:cxn modelId="{7C05721D-B0DC-4C15-9580-67F7C25D0223}" type="presOf" srcId="{50CC9445-9B58-4F00-B603-3E07055381E0}" destId="{102B6291-B122-4E42-82CC-EB6D3D54CF66}" srcOrd="0" destOrd="0" presId="urn:microsoft.com/office/officeart/2005/8/layout/chevron2"/>
    <dgm:cxn modelId="{45C5631F-5915-41A8-B2EB-E19E4FD54248}" srcId="{38ADB08E-D173-42C8-8D76-467505E87E8E}" destId="{680D8A6F-6104-4468-8255-2887F61DA0FF}" srcOrd="0" destOrd="0" parTransId="{C993A404-1CE5-458F-AA5E-88B29782CE8A}" sibTransId="{165610DA-A137-4878-ACFC-8913FE526590}"/>
    <dgm:cxn modelId="{BE300365-37FB-4CC9-AEF0-93C6F99225D9}" type="presOf" srcId="{6DFB4317-EF82-4E60-B8C5-82D9B58F943A}" destId="{12646383-5F6E-46C0-AD8F-223FAEEBF2AC}" srcOrd="0" destOrd="0" presId="urn:microsoft.com/office/officeart/2005/8/layout/chevron2"/>
    <dgm:cxn modelId="{E970084C-8D03-4A6D-9128-7D1AB6158A82}" srcId="{B9A1C016-3730-4D0E-A54E-87520218069D}" destId="{50CC9445-9B58-4F00-B603-3E07055381E0}" srcOrd="0" destOrd="0" parTransId="{093EAF9F-2F89-4A7D-95E7-7A1B8E84E5E7}" sibTransId="{7FCDADF1-B0A2-448A-984C-E1F1A8CBB94B}"/>
    <dgm:cxn modelId="{D47FBC84-417A-4378-8C8E-0ACED7FB9CE1}" type="presOf" srcId="{680D8A6F-6104-4468-8255-2887F61DA0FF}" destId="{965DD248-5882-4CB8-A37B-FE173AB1E9B1}" srcOrd="0" destOrd="0" presId="urn:microsoft.com/office/officeart/2005/8/layout/chevron2"/>
    <dgm:cxn modelId="{C8FB51B4-F716-478B-98FA-3CAC5F3D1C63}" srcId="{96714ACB-692B-4FD7-8686-A15252FE87D1}" destId="{B9A1C016-3730-4D0E-A54E-87520218069D}" srcOrd="0" destOrd="0" parTransId="{B37C838C-5934-4CCB-B1ED-690DE4421FC8}" sibTransId="{B2BB1C25-655E-45F8-995B-D2B40BA9FF96}"/>
    <dgm:cxn modelId="{47274CB9-363B-41F9-B226-BCF09043A550}" srcId="{96714ACB-692B-4FD7-8686-A15252FE87D1}" destId="{936CDB5A-4D55-48AA-A477-0257872C9FF5}" srcOrd="2" destOrd="0" parTransId="{B9EABA88-E8C4-49B1-83ED-985C17133B4E}" sibTransId="{B715BB84-6002-46BC-901B-243B3EAAE531}"/>
    <dgm:cxn modelId="{B009D9CC-9DE3-4D73-A4C2-5F4E7C324527}" type="presOf" srcId="{96714ACB-692B-4FD7-8686-A15252FE87D1}" destId="{71518D83-6741-4EAD-8914-ADCDF64B317D}" srcOrd="0" destOrd="0" presId="urn:microsoft.com/office/officeart/2005/8/layout/chevron2"/>
    <dgm:cxn modelId="{0C757DD2-5F8C-4BDC-9DF6-868526FCCAEA}" type="presOf" srcId="{936CDB5A-4D55-48AA-A477-0257872C9FF5}" destId="{3BB2A06E-4411-4316-BD56-D0975D3D3A73}" srcOrd="0" destOrd="0" presId="urn:microsoft.com/office/officeart/2005/8/layout/chevron2"/>
    <dgm:cxn modelId="{67920FF0-0515-49EB-9170-48DB59AE00DE}" srcId="{936CDB5A-4D55-48AA-A477-0257872C9FF5}" destId="{6DFB4317-EF82-4E60-B8C5-82D9B58F943A}" srcOrd="0" destOrd="0" parTransId="{F1562D5C-DC8E-45E6-BD96-1C5211ED91FE}" sibTransId="{C1C1B8E6-492E-4A33-81B5-071DF17E2ABF}"/>
    <dgm:cxn modelId="{B24632F8-A87D-44B4-A4A2-BCE80A4425DF}" type="presOf" srcId="{38ADB08E-D173-42C8-8D76-467505E87E8E}" destId="{144574FE-BE83-4D57-89C7-7421A44AE584}" srcOrd="0" destOrd="0" presId="urn:microsoft.com/office/officeart/2005/8/layout/chevron2"/>
    <dgm:cxn modelId="{3BC6EC80-72AE-43D5-915E-0422CA2043FB}" type="presParOf" srcId="{71518D83-6741-4EAD-8914-ADCDF64B317D}" destId="{72602F47-EDED-4A2F-9F10-664FFDE9A9C1}" srcOrd="0" destOrd="0" presId="urn:microsoft.com/office/officeart/2005/8/layout/chevron2"/>
    <dgm:cxn modelId="{DD427507-56C7-432A-A2C1-673B3C3B10E8}" type="presParOf" srcId="{72602F47-EDED-4A2F-9F10-664FFDE9A9C1}" destId="{6ABD4C50-FC73-4241-B9AE-865DD810FD60}" srcOrd="0" destOrd="0" presId="urn:microsoft.com/office/officeart/2005/8/layout/chevron2"/>
    <dgm:cxn modelId="{7D68B3CE-1054-4920-9239-EFE93CCAFEAA}" type="presParOf" srcId="{72602F47-EDED-4A2F-9F10-664FFDE9A9C1}" destId="{102B6291-B122-4E42-82CC-EB6D3D54CF66}" srcOrd="1" destOrd="0" presId="urn:microsoft.com/office/officeart/2005/8/layout/chevron2"/>
    <dgm:cxn modelId="{19725698-D87D-46E1-8AB3-227EDF8B52BE}" type="presParOf" srcId="{71518D83-6741-4EAD-8914-ADCDF64B317D}" destId="{1F476B68-DB55-422D-B83C-BC69E6269344}" srcOrd="1" destOrd="0" presId="urn:microsoft.com/office/officeart/2005/8/layout/chevron2"/>
    <dgm:cxn modelId="{0B5CD264-46C1-48DB-9394-AC7D8AF7F6EF}" type="presParOf" srcId="{71518D83-6741-4EAD-8914-ADCDF64B317D}" destId="{C0F585E9-729F-4836-B173-7ADDC105B62D}" srcOrd="2" destOrd="0" presId="urn:microsoft.com/office/officeart/2005/8/layout/chevron2"/>
    <dgm:cxn modelId="{D776146E-147B-47BF-8D26-207BAAC3D7B7}" type="presParOf" srcId="{C0F585E9-729F-4836-B173-7ADDC105B62D}" destId="{144574FE-BE83-4D57-89C7-7421A44AE584}" srcOrd="0" destOrd="0" presId="urn:microsoft.com/office/officeart/2005/8/layout/chevron2"/>
    <dgm:cxn modelId="{A1862105-68DE-4030-AA35-50E041D3DE60}" type="presParOf" srcId="{C0F585E9-729F-4836-B173-7ADDC105B62D}" destId="{965DD248-5882-4CB8-A37B-FE173AB1E9B1}" srcOrd="1" destOrd="0" presId="urn:microsoft.com/office/officeart/2005/8/layout/chevron2"/>
    <dgm:cxn modelId="{B8ACB750-5D30-4904-8593-3F72BA895946}" type="presParOf" srcId="{71518D83-6741-4EAD-8914-ADCDF64B317D}" destId="{BCFBDDC7-FC70-423C-82F3-B7C1D9ADBFBE}" srcOrd="3" destOrd="0" presId="urn:microsoft.com/office/officeart/2005/8/layout/chevron2"/>
    <dgm:cxn modelId="{E857A522-D855-46A3-91B1-E57D1DF0BFCC}" type="presParOf" srcId="{71518D83-6741-4EAD-8914-ADCDF64B317D}" destId="{3693C562-37C3-4A50-9667-1B0B1B52BAA2}" srcOrd="4" destOrd="0" presId="urn:microsoft.com/office/officeart/2005/8/layout/chevron2"/>
    <dgm:cxn modelId="{EA1A8195-12F0-490C-AD9D-A16A964BF1F6}" type="presParOf" srcId="{3693C562-37C3-4A50-9667-1B0B1B52BAA2}" destId="{3BB2A06E-4411-4316-BD56-D0975D3D3A73}" srcOrd="0" destOrd="0" presId="urn:microsoft.com/office/officeart/2005/8/layout/chevron2"/>
    <dgm:cxn modelId="{FAAD63B1-066E-4338-8B04-EC44E1BE0373}" type="presParOf" srcId="{3693C562-37C3-4A50-9667-1B0B1B52BAA2}" destId="{12646383-5F6E-46C0-AD8F-223FAEEBF2A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D4C50-FC73-4241-B9AE-865DD810FD60}">
      <dsp:nvSpPr>
        <dsp:cNvPr id="0" name=""/>
        <dsp:cNvSpPr/>
      </dsp:nvSpPr>
      <dsp:spPr>
        <a:xfrm rot="5400000">
          <a:off x="-243619" y="245654"/>
          <a:ext cx="1624131" cy="1136891"/>
        </a:xfrm>
        <a:prstGeom prst="chevron">
          <a:avLst/>
        </a:prstGeom>
        <a:solidFill>
          <a:srgbClr val="44546A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#1</a:t>
          </a:r>
        </a:p>
      </dsp:txBody>
      <dsp:txXfrm rot="-5400000">
        <a:off x="2" y="570480"/>
        <a:ext cx="1136891" cy="487240"/>
      </dsp:txXfrm>
    </dsp:sp>
    <dsp:sp modelId="{102B6291-B122-4E42-82CC-EB6D3D54CF66}">
      <dsp:nvSpPr>
        <dsp:cNvPr id="0" name=""/>
        <dsp:cNvSpPr/>
      </dsp:nvSpPr>
      <dsp:spPr>
        <a:xfrm rot="5400000">
          <a:off x="3566720" y="-2427794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Prétraitement des données</a:t>
          </a:r>
        </a:p>
      </dsp:txBody>
      <dsp:txXfrm rot="-5400000">
        <a:off x="1136891" y="53569"/>
        <a:ext cx="5863809" cy="952617"/>
      </dsp:txXfrm>
    </dsp:sp>
    <dsp:sp modelId="{144574FE-BE83-4D57-89C7-7421A44AE584}">
      <dsp:nvSpPr>
        <dsp:cNvPr id="0" name=""/>
        <dsp:cNvSpPr/>
      </dsp:nvSpPr>
      <dsp:spPr>
        <a:xfrm rot="5400000">
          <a:off x="-243619" y="1675967"/>
          <a:ext cx="1624131" cy="1136891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#2</a:t>
          </a:r>
        </a:p>
      </dsp:txBody>
      <dsp:txXfrm rot="-5400000">
        <a:off x="2" y="2000793"/>
        <a:ext cx="1136891" cy="487240"/>
      </dsp:txXfrm>
    </dsp:sp>
    <dsp:sp modelId="{965DD248-5882-4CB8-A37B-FE173AB1E9B1}">
      <dsp:nvSpPr>
        <dsp:cNvPr id="0" name=""/>
        <dsp:cNvSpPr/>
      </dsp:nvSpPr>
      <dsp:spPr>
        <a:xfrm rot="5400000">
          <a:off x="3566720" y="-997481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Extraction des caractéristiques</a:t>
          </a:r>
        </a:p>
      </dsp:txBody>
      <dsp:txXfrm rot="-5400000">
        <a:off x="1136891" y="1483882"/>
        <a:ext cx="5863809" cy="952617"/>
      </dsp:txXfrm>
    </dsp:sp>
    <dsp:sp modelId="{3BB2A06E-4411-4316-BD56-D0975D3D3A73}">
      <dsp:nvSpPr>
        <dsp:cNvPr id="0" name=""/>
        <dsp:cNvSpPr/>
      </dsp:nvSpPr>
      <dsp:spPr>
        <a:xfrm rot="5400000">
          <a:off x="-243619" y="3106281"/>
          <a:ext cx="1624131" cy="1136891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#3</a:t>
          </a:r>
        </a:p>
      </dsp:txBody>
      <dsp:txXfrm rot="-5400000">
        <a:off x="2" y="3431107"/>
        <a:ext cx="1136891" cy="487240"/>
      </dsp:txXfrm>
    </dsp:sp>
    <dsp:sp modelId="{12646383-5F6E-46C0-AD8F-223FAEEBF2AC}">
      <dsp:nvSpPr>
        <dsp:cNvPr id="0" name=""/>
        <dsp:cNvSpPr/>
      </dsp:nvSpPr>
      <dsp:spPr>
        <a:xfrm rot="5400000">
          <a:off x="3566720" y="432832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Construction du modèle</a:t>
          </a:r>
        </a:p>
      </dsp:txBody>
      <dsp:txXfrm rot="-5400000">
        <a:off x="1136891" y="2914195"/>
        <a:ext cx="5863809" cy="9526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8E1BD-7F8C-416A-8A7E-2EC2CA162FFF}" type="datetimeFigureOut">
              <a:rPr lang="fr-FR" smtClean="0"/>
              <a:t>17/07/2025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24C96-225B-4B05-A8F3-8A3CBDEF1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03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82B672-22C1-43FF-840D-2BC3E42D8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FF71D0-784D-4C04-8EBA-2EC2CC301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26F65-F45D-4409-AEDA-9BC98E1C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C25-2C35-4EB7-B5A2-E7AD488AACE5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79897A-F368-43DF-9165-527425CC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577FF3-057F-45CD-BEBA-87977D02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76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08477-BB31-4A98-B895-8E8958F8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42D24-9E70-4FF7-A0A0-BED47217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64A9AA-F81B-44EE-8286-8656915D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ECAA-905D-485A-B325-8275AE782AA0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7378CF-79EC-4250-BE31-D7BE59DB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90044B-C344-4467-99E2-DE17F2F6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6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77F3E-4A61-4D2E-8B92-A92AC2D7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104867-8EB5-4695-BC5D-EF7CEB915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B8A59-43E0-4679-8C46-16D10096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8486-4BBE-4D6D-9CCB-8E73C3450A37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DA8B92-5169-43D8-9B6B-E378B590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159CC7-1AF9-4C97-BF9D-309FB47D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91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2703A-347D-4948-A56D-9A4FE56D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FF843C-0C0A-4001-820B-ECA91D4E4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C50032-F692-454B-B14B-F84DA64DA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E22396-3998-40F1-8B83-C912EB8A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4135-7DD9-435E-9C49-CA32C7815EBD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D773E9-6530-49FA-B3BF-889FD9F9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3AFF9D-D38A-4683-9FA5-227E8AAD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0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DA1DF-72C6-4B2E-A0C8-A91C362B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4267E7-90B2-4DFE-8068-C7C1483E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AA49A9-3981-4602-9784-09B2471D7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C24729-9931-4800-91E3-8BBCF2513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0619C4-A1B1-497E-87E6-1F783D8B4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60368EF-FA59-49BF-89D1-CD24092A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9A3A-084A-4C7C-B469-51AB76715140}" type="datetime1">
              <a:rPr lang="fr-FR" smtClean="0"/>
              <a:t>17/07/2025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E5776C-C6CF-4663-A5DE-38095418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7750C0-9B22-4BE2-B1EA-456E79D2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57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27C02-1B10-44C8-B1C2-0EA2FEA5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D62A923-614D-4DB1-98E1-D87A438D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0A9B1-D6C9-43C9-BDB9-FB821DD04DC2}" type="datetime1">
              <a:rPr lang="fr-FR" smtClean="0"/>
              <a:t>17/07/2025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33BC25-3401-4EC1-A353-D15411FD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EDD4E8-7B00-4108-8AFC-A7D785B1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23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097392B-EE48-40B5-B08E-C8C68355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0D9BF-61E7-41CF-A3D0-7B42BDCA1D18}" type="datetime1">
              <a:rPr lang="fr-FR" smtClean="0"/>
              <a:t>17/07/2025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85A59-8E10-4A7A-A96A-F6704604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2B7739-32BD-461B-B528-B5043705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40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8E753-238A-4E79-AFF5-A45E0BC1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7210E-7F8A-4345-B0F9-DD1DE8E0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C89898-876D-4795-9EF8-AA88872E3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880CE9-F47C-44F1-B75F-2D6189C3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08FA-2BE5-4A71-8AE8-C55528A19B3C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26F47F-5E50-4D5E-8CAF-05C65FC0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9B27A3-DB68-474C-BB26-E49E4C42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64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BD107-70B7-4D95-8B80-140E85C9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119CDB8-F63A-4077-A6DA-1130AE40F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35BEBD-8CA9-49EE-AE14-864748D48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3653F9-5EBA-465D-9C19-A193C272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7E31-7FC2-48D0-9480-BA8A6DEFFF50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596BF9-417B-4627-BBD2-59D694DF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8A5D25-B40F-43D1-85B0-B9E079FE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47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FDD4C-3C12-48E1-8CD2-C24024A7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1835BF-E5B8-4370-87C7-B044C22F0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72867E-0039-4E16-8593-A17474F8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CC44B-D645-4BA8-9551-96B7B74F8764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C0EE0A-82FB-4CB6-B3B0-AEE847CD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632EB2-B23D-4E39-B0C0-1CF80175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92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9D8025-B572-4638-9457-789541BE8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B7764B-CE60-4119-8DF5-980569CB2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410F3-C688-495B-A228-6D31A3C8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D104C-CC0C-4545-B547-A59C039B2E7A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6AA4C5-6FAD-4AC8-8F7C-2EED7CA8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92722-4476-448C-9936-439C42E8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64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533E70-DF7D-420E-8DA5-F7F69221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6C5C89-8F34-480B-9A0A-783291C2D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653675-848D-4CA4-83F1-00D278116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35E81-D37D-49CF-89A6-730776DC0A35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489F4E-1FCC-4165-83E1-C077E393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23AFB5-E855-4E3A-A133-D383C84FA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39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40779-023-00502-7" TargetMode="External"/><Relationship Id="rId7" Type="http://schemas.openxmlformats.org/officeDocument/2006/relationships/hyperlink" Target="https://www.ijert.org/research/electroencephalogram-eeg-its-processing-and-feature-extraction-IJERTV9IS060814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doi.org/10.3389/frai.2022.1072801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28C49-2E85-4C6C-B639-B64FBB2DF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3012"/>
            <a:ext cx="9144000" cy="3844085"/>
          </a:xfrm>
        </p:spPr>
        <p:txBody>
          <a:bodyPr>
            <a:normAutofit fontScale="9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de signaux neurophysiologiques dans le Trouble du Comportement en Sommeil</a:t>
            </a:r>
            <a:b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Paradoxal (TCSP)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F0BD55-06BB-4744-A1CB-BD5BF841A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05" y="5979459"/>
            <a:ext cx="4320989" cy="6275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sz="1800" i="1" dirty="0"/>
              <a:t>Par Darryl Dessalines</a:t>
            </a:r>
          </a:p>
          <a:p>
            <a:pPr algn="l"/>
            <a:r>
              <a:rPr lang="fr-FR" sz="1800" i="1" u="sng" dirty="0"/>
              <a:t>Encadré par </a:t>
            </a:r>
            <a:r>
              <a:rPr lang="fr-FR" sz="1800" i="1" dirty="0"/>
              <a:t>: Jonathan </a:t>
            </a:r>
            <a:r>
              <a:rPr lang="fr-FR" sz="1800" i="1" dirty="0" err="1"/>
              <a:t>Curot</a:t>
            </a:r>
            <a:r>
              <a:rPr lang="fr-FR" sz="1800" i="1" dirty="0"/>
              <a:t> et </a:t>
            </a:r>
            <a:r>
              <a:rPr lang="fr-FR" sz="1800" i="1" dirty="0" err="1"/>
              <a:t>Siwar</a:t>
            </a:r>
            <a:r>
              <a:rPr lang="fr-FR" sz="1800" i="1" dirty="0"/>
              <a:t> </a:t>
            </a:r>
            <a:r>
              <a:rPr lang="fr-FR" sz="1800" i="1" dirty="0" err="1"/>
              <a:t>Bouden</a:t>
            </a:r>
            <a:endParaRPr lang="fr-FR" sz="18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A69AA-F7CF-49D7-802E-4C0ED1D8F6A8}"/>
              </a:ext>
            </a:extLst>
          </p:cNvPr>
          <p:cNvSpPr/>
          <p:nvPr/>
        </p:nvSpPr>
        <p:spPr>
          <a:xfrm>
            <a:off x="9367644" y="6352143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/>
              <a:t>07/07/2025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61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D91174-9EA7-43B8-96B2-DCB704EEF48B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D0B250-A1C3-4CD5-AE67-50C83658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4D5B3-CE1B-4B85-A512-546FDEFF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362"/>
            <a:ext cx="10515600" cy="4351338"/>
          </a:xfrm>
        </p:spPr>
        <p:txBody>
          <a:bodyPr/>
          <a:lstStyle/>
          <a:p>
            <a:r>
              <a:rPr lang="fr-FR" dirty="0"/>
              <a:t>Le stage porte sur le Trouble du Comportement en Sommeil Paradoxal (TCSP)</a:t>
            </a:r>
          </a:p>
          <a:p>
            <a:endParaRPr lang="fr-FR" dirty="0"/>
          </a:p>
          <a:p>
            <a:r>
              <a:rPr lang="fr-FR" dirty="0"/>
              <a:t>Le sommeil paradoxal (REM) est une phase de sommeil associée aux rêves, où le corps est normalement paralysé</a:t>
            </a:r>
          </a:p>
          <a:p>
            <a:endParaRPr lang="fr-FR" dirty="0"/>
          </a:p>
          <a:p>
            <a:r>
              <a:rPr lang="fr-FR" dirty="0"/>
              <a:t>Chez les patients atteints de TCSP, cette paralysie est absente : ils miment les gestes de leurs rêves, parfois violemment.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FFFB4-018B-4FDB-B252-7713031C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821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D91174-9EA7-43B8-96B2-DCB704EEF48B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D0B250-A1C3-4CD5-AE67-50C83658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4D5B3-CE1B-4B85-A512-546FDEFF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89303"/>
            <a:ext cx="11004176" cy="5142296"/>
          </a:xfrm>
        </p:spPr>
        <p:txBody>
          <a:bodyPr>
            <a:noAutofit/>
          </a:bodyPr>
          <a:lstStyle/>
          <a:p>
            <a:r>
              <a:rPr lang="fr-FR" dirty="0"/>
              <a:t>TCSP = marqueur précoce de maladie </a:t>
            </a:r>
            <a:r>
              <a:rPr lang="fr-FR" dirty="0" err="1"/>
              <a:t>neurodégénratives</a:t>
            </a:r>
            <a:r>
              <a:rPr lang="fr-FR" dirty="0"/>
              <a:t>, notamment de la m</a:t>
            </a:r>
            <a:r>
              <a:rPr lang="fr-FR" sz="2800" dirty="0"/>
              <a:t>aladie de Parkinson, démence à corps de Lewy (DCL) et atrophie </a:t>
            </a:r>
            <a:r>
              <a:rPr lang="fr-FR" sz="2800" dirty="0" err="1"/>
              <a:t>Multisystématisée</a:t>
            </a:r>
            <a:r>
              <a:rPr lang="fr-FR" sz="2800" dirty="0"/>
              <a:t> (AMS) </a:t>
            </a:r>
            <a:r>
              <a:rPr lang="fr-FR" sz="2800" dirty="0">
                <a:sym typeface="Wingdings" panose="05000000000000000000" pitchFamily="2" charset="2"/>
              </a:rPr>
              <a:t> alpha-</a:t>
            </a:r>
            <a:r>
              <a:rPr lang="fr-FR" sz="2800" dirty="0" err="1">
                <a:sym typeface="Wingdings" panose="05000000000000000000" pitchFamily="2" charset="2"/>
              </a:rPr>
              <a:t>synucléinopathies</a:t>
            </a:r>
            <a:endParaRPr lang="fr-FR" sz="2800" dirty="0"/>
          </a:p>
          <a:p>
            <a:endParaRPr lang="fr-FR" dirty="0"/>
          </a:p>
          <a:p>
            <a:r>
              <a:rPr lang="fr-FR" dirty="0"/>
              <a:t>Il existe aussi des formes idiopathiques du TCSP (sans cause identifiée immédiate)</a:t>
            </a:r>
          </a:p>
          <a:p>
            <a:endParaRPr lang="fr-FR" dirty="0"/>
          </a:p>
          <a:p>
            <a:r>
              <a:rPr lang="fr-FR" dirty="0"/>
              <a:t>90% des patients avec un TCSP idiopathique développeront une </a:t>
            </a:r>
            <a:r>
              <a:rPr lang="fr-FR" dirty="0" err="1"/>
              <a:t>synucléinopathie</a:t>
            </a:r>
            <a:r>
              <a:rPr lang="fr-FR" dirty="0"/>
              <a:t> dans les 15 ans suivant leur diagnostique. </a:t>
            </a:r>
          </a:p>
          <a:p>
            <a:endParaRPr lang="fr-FR" dirty="0"/>
          </a:p>
          <a:p>
            <a:r>
              <a:rPr lang="fr-FR" dirty="0"/>
              <a:t>Cela en fait un biomarqueur prédictif majeur de ces maladies.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FFFB4-018B-4FDB-B252-7713031C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089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44C58-2DE7-4677-ABF9-DF365AAAF092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F97B7B-C80F-4E5F-B6B8-59A50EC3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Problématique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701108-8BB4-40D0-9655-EC730E6E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8685"/>
            <a:ext cx="10515600" cy="3203575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fr-FR" b="1" dirty="0"/>
              <a:t>Comment caractériser les spécificités de l’activité cérébrale durant le sommeil paradoxal (REM) à partir de signaux </a:t>
            </a:r>
            <a:r>
              <a:rPr lang="fr-FR" b="1" dirty="0" err="1"/>
              <a:t>EEGs</a:t>
            </a:r>
            <a:r>
              <a:rPr lang="fr-FR" b="1" dirty="0"/>
              <a:t> afin d’identifier des biomarqueurs potentiels de pathologies du sommeil comme les </a:t>
            </a:r>
            <a:r>
              <a:rPr lang="fr-FR" b="1" dirty="0" err="1"/>
              <a:t>synucléinopathies</a:t>
            </a:r>
            <a:r>
              <a:rPr lang="fr-FR" b="1" dirty="0"/>
              <a:t> ou la narcolepsie?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3064D5-C514-4EA2-A406-1C72248F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73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5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42A2A-0F23-438B-B9F9-FEBDB728774E}"/>
              </a:ext>
            </a:extLst>
          </p:cNvPr>
          <p:cNvSpPr/>
          <p:nvPr/>
        </p:nvSpPr>
        <p:spPr>
          <a:xfrm>
            <a:off x="1668837" y="2239703"/>
            <a:ext cx="3618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Machine Learning (ML)</a:t>
            </a:r>
            <a:endParaRPr lang="fr-FR" b="1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AF3B3-AC97-4D56-BAAA-C50A04383D9D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+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8175" y="3426957"/>
            <a:ext cx="3524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Extraction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708C6-F774-45D9-890D-6828F3438D2C}"/>
              </a:ext>
            </a:extLst>
          </p:cNvPr>
          <p:cNvSpPr/>
          <p:nvPr/>
        </p:nvSpPr>
        <p:spPr>
          <a:xfrm>
            <a:off x="1568175" y="4824707"/>
            <a:ext cx="3524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Model d’apprentissage supervisé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798C00F4-2A51-4D70-90EB-8D13EDEF964F}"/>
              </a:ext>
            </a:extLst>
          </p:cNvPr>
          <p:cNvSpPr/>
          <p:nvPr/>
        </p:nvSpPr>
        <p:spPr>
          <a:xfrm>
            <a:off x="3230880" y="4110646"/>
            <a:ext cx="274320" cy="71406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892DC-63F5-421E-A670-333726FAC73B}"/>
              </a:ext>
            </a:extLst>
          </p:cNvPr>
          <p:cNvSpPr/>
          <p:nvPr/>
        </p:nvSpPr>
        <p:spPr>
          <a:xfrm>
            <a:off x="6211007" y="281868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Efficace avec peu de données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Bonne interprétabilité (on sait quelle </a:t>
            </a:r>
            <a:r>
              <a:rPr lang="fr-FR" sz="2800" dirty="0" err="1">
                <a:solidFill>
                  <a:schemeClr val="bg1"/>
                </a:solidFill>
              </a:rPr>
              <a:t>feature</a:t>
            </a:r>
            <a:r>
              <a:rPr lang="fr-FR" sz="2800" dirty="0">
                <a:solidFill>
                  <a:schemeClr val="bg1"/>
                </a:solidFill>
              </a:rPr>
              <a:t> influence la prédiction)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Facile à entrainer, rapide, peu gourmand en ressources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4162587-64F1-44E6-A717-C445C99493DA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1013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AF3B3-AC97-4D56-BAAA-C50A04383D9D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8175" y="3426957"/>
            <a:ext cx="3524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Extraction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708C6-F774-45D9-890D-6828F3438D2C}"/>
              </a:ext>
            </a:extLst>
          </p:cNvPr>
          <p:cNvSpPr/>
          <p:nvPr/>
        </p:nvSpPr>
        <p:spPr>
          <a:xfrm>
            <a:off x="1568175" y="4824707"/>
            <a:ext cx="3524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Model d’apprentissage supervisé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798C00F4-2A51-4D70-90EB-8D13EDEF964F}"/>
              </a:ext>
            </a:extLst>
          </p:cNvPr>
          <p:cNvSpPr/>
          <p:nvPr/>
        </p:nvSpPr>
        <p:spPr>
          <a:xfrm>
            <a:off x="3230880" y="4110646"/>
            <a:ext cx="274320" cy="71406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892DC-63F5-421E-A670-333726FAC73B}"/>
              </a:ext>
            </a:extLst>
          </p:cNvPr>
          <p:cNvSpPr/>
          <p:nvPr/>
        </p:nvSpPr>
        <p:spPr>
          <a:xfrm>
            <a:off x="6129154" y="281868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Performances du modèle fortement dépendantes de la qualité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Modèle moins performant si les patterns sont très complexes ou non-linéaires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6A16782-1CB9-4E2E-92AB-4B2BB9C8465E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118DD38-AB3C-4636-A946-ACCBA07B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CEF35B-7B00-4688-8696-D426E3AC37A7}"/>
              </a:ext>
            </a:extLst>
          </p:cNvPr>
          <p:cNvSpPr/>
          <p:nvPr/>
        </p:nvSpPr>
        <p:spPr>
          <a:xfrm>
            <a:off x="1668837" y="2239703"/>
            <a:ext cx="3618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Machine Learning (ML)</a:t>
            </a:r>
            <a:endParaRPr lang="fr-FR" b="1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410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7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42A2A-0F23-438B-B9F9-FEBDB728774E}"/>
              </a:ext>
            </a:extLst>
          </p:cNvPr>
          <p:cNvSpPr/>
          <p:nvPr/>
        </p:nvSpPr>
        <p:spPr>
          <a:xfrm>
            <a:off x="1892334" y="2318443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u="sng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DeepLearning</a:t>
            </a:r>
            <a:r>
              <a:rPr lang="fr-FR" sz="2800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(DL)</a:t>
            </a:r>
            <a:endParaRPr lang="fr-FR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7942" y="3540760"/>
            <a:ext cx="38267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apprends directement à partir du signal brut*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7B1DC-705F-4AC5-97BD-AC64C4568824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+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E8CC51C-3E92-4628-92BE-FF26CAC9936F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1A33E-15EE-4977-8393-84ECBB90EB11}"/>
              </a:ext>
            </a:extLst>
          </p:cNvPr>
          <p:cNvSpPr/>
          <p:nvPr/>
        </p:nvSpPr>
        <p:spPr>
          <a:xfrm>
            <a:off x="6180527" y="298124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Peut capturer des patterns complexe et subtils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Adaptés à des signaux temporels non-linéaires (EEG like)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Apprentissage de bout-en bout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D7FBC9EC-0475-4AA5-A3EB-93C64A34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8559655-A89C-482B-8694-98A931D71627}"/>
              </a:ext>
            </a:extLst>
          </p:cNvPr>
          <p:cNvSpPr txBox="1"/>
          <p:nvPr/>
        </p:nvSpPr>
        <p:spPr>
          <a:xfrm>
            <a:off x="170329" y="6413779"/>
            <a:ext cx="80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  <a:r>
              <a:rPr lang="fr-FR" dirty="0" err="1"/>
              <a:t>Keras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660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8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7942" y="3540760"/>
            <a:ext cx="38267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apprends directement à partir du signal brute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7B1DC-705F-4AC5-97BD-AC64C4568824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E8CC51C-3E92-4628-92BE-FF26CAC9936F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1A33E-15EE-4977-8393-84ECBB90EB11}"/>
              </a:ext>
            </a:extLst>
          </p:cNvPr>
          <p:cNvSpPr/>
          <p:nvPr/>
        </p:nvSpPr>
        <p:spPr>
          <a:xfrm>
            <a:off x="6211007" y="298124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Nécessite beaucoup plus de données pour généraliser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Plus long à entrainer + effet boite-noire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Moins robuste si peu de patients (risque </a:t>
            </a:r>
            <a:r>
              <a:rPr lang="fr-FR" sz="2800" dirty="0" err="1">
                <a:solidFill>
                  <a:srgbClr val="C00000"/>
                </a:solidFill>
              </a:rPr>
              <a:t>overfitting</a:t>
            </a:r>
            <a:r>
              <a:rPr lang="fr-FR" sz="2800" dirty="0">
                <a:solidFill>
                  <a:srgbClr val="C00000"/>
                </a:solidFill>
              </a:rPr>
              <a:t>)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EBA077E8-D5EC-4E8A-8173-7E2AEBAC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E0442B-942A-4292-BEC9-D255EBD5A5C6}"/>
              </a:ext>
            </a:extLst>
          </p:cNvPr>
          <p:cNvSpPr/>
          <p:nvPr/>
        </p:nvSpPr>
        <p:spPr>
          <a:xfrm>
            <a:off x="1892334" y="2318443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u="sng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DeepLearning</a:t>
            </a:r>
            <a:r>
              <a:rPr lang="fr-FR" sz="2800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(DL)</a:t>
            </a:r>
            <a:endParaRPr lang="fr-FR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678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1</a:t>
            </a:r>
            <a:r>
              <a:rPr lang="fr-FR" baseline="30000" dirty="0">
                <a:solidFill>
                  <a:schemeClr val="bg1"/>
                </a:solidFill>
              </a:rPr>
              <a:t>ère</a:t>
            </a:r>
            <a:r>
              <a:rPr lang="fr-FR" dirty="0">
                <a:solidFill>
                  <a:schemeClr val="bg1"/>
                </a:solidFill>
              </a:rPr>
              <a:t> Approche ML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C44B8C8-F613-4226-81E3-7E7F893FCA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147140"/>
              </p:ext>
            </p:extLst>
          </p:nvPr>
        </p:nvGraphicFramePr>
        <p:xfrm>
          <a:off x="2728258" y="2004048"/>
          <a:ext cx="7052235" cy="4488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22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#1 – Prétraitement des données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10</a:t>
            </a:fld>
            <a:endParaRPr lang="fr-FR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5D01384-C22E-4454-9399-444A4E39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97" y="2653541"/>
            <a:ext cx="8162962" cy="2828845"/>
          </a:xfrm>
        </p:spPr>
        <p:txBody>
          <a:bodyPr>
            <a:normAutofit/>
          </a:bodyPr>
          <a:lstStyle/>
          <a:p>
            <a:r>
              <a:rPr lang="fr-FR" dirty="0"/>
              <a:t>Objectifs (</a:t>
            </a:r>
            <a:r>
              <a:rPr lang="fr-FR" dirty="0" err="1"/>
              <a:t>EEGs</a:t>
            </a:r>
            <a:r>
              <a:rPr lang="fr-FR" dirty="0"/>
              <a:t>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 Filtre : [10, 100] Hz </a:t>
            </a:r>
            <a:r>
              <a:rPr lang="fr-FR" dirty="0">
                <a:solidFill>
                  <a:srgbClr val="00B050"/>
                </a:solidFill>
                <a:highlight>
                  <a:srgbClr val="FFFF00"/>
                </a:highlight>
              </a:rPr>
              <a:t>Non !! Need delta, </a:t>
            </a:r>
            <a:r>
              <a:rPr lang="fr-FR" dirty="0" err="1">
                <a:solidFill>
                  <a:srgbClr val="00B050"/>
                </a:solidFill>
                <a:highlight>
                  <a:srgbClr val="FFFF00"/>
                </a:highlight>
              </a:rPr>
              <a:t>theta</a:t>
            </a:r>
            <a:r>
              <a:rPr lang="fr-FR" dirty="0">
                <a:solidFill>
                  <a:srgbClr val="00B050"/>
                </a:solidFill>
                <a:highlight>
                  <a:srgbClr val="FFFF00"/>
                </a:highlight>
              </a:rPr>
              <a:t> et alpha </a:t>
            </a:r>
            <a:r>
              <a:rPr lang="fr-FR" dirty="0">
                <a:solidFill>
                  <a:srgbClr val="00B05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 0,3</a:t>
            </a:r>
            <a:r>
              <a:rPr lang="fr-FR" dirty="0">
                <a:solidFill>
                  <a:srgbClr val="00B050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Notch : 50 Hz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rgbClr val="00B050"/>
                </a:solidFill>
              </a:rPr>
              <a:t>Ref</a:t>
            </a:r>
            <a:r>
              <a:rPr lang="fr-FR" dirty="0">
                <a:solidFill>
                  <a:srgbClr val="00B050"/>
                </a:solidFill>
              </a:rPr>
              <a:t> / A1 : Signal = Signal – A1 </a:t>
            </a:r>
            <a:r>
              <a:rPr lang="fr-FR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fr-FR" dirty="0">
                <a:solidFill>
                  <a:srgbClr val="00B05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Bipolaire</a:t>
            </a:r>
            <a:endParaRPr lang="fr-FR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70C0"/>
                </a:solidFill>
              </a:rPr>
              <a:t>Extraction des artéfacts (ICA)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B050"/>
                </a:solidFill>
              </a:rPr>
              <a:t>Sauvegarde format .</a:t>
            </a:r>
            <a:r>
              <a:rPr lang="fr-FR" dirty="0" err="1">
                <a:solidFill>
                  <a:srgbClr val="00B050"/>
                </a:solidFill>
              </a:rPr>
              <a:t>fif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dirty="0">
                <a:solidFill>
                  <a:srgbClr val="00B050"/>
                </a:solidFill>
                <a:sym typeface="Wingdings" panose="05000000000000000000" pitchFamily="2" charset="2"/>
              </a:rPr>
              <a:t> MNE-python</a:t>
            </a:r>
          </a:p>
          <a:p>
            <a:pPr marL="457200" lvl="1" indent="0">
              <a:buNone/>
            </a:pPr>
            <a:endParaRPr lang="fr-FR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8523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#1 – Prétraitement des données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11</a:t>
            </a:fld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BB5A1-2A41-4E2F-8D47-40AD9FDA0839}"/>
              </a:ext>
            </a:extLst>
          </p:cNvPr>
          <p:cNvSpPr/>
          <p:nvPr/>
        </p:nvSpPr>
        <p:spPr>
          <a:xfrm>
            <a:off x="487133" y="2034353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4DC97D-11B9-4BC8-AF05-718A72EF9D10}"/>
              </a:ext>
            </a:extLst>
          </p:cNvPr>
          <p:cNvSpPr/>
          <p:nvPr/>
        </p:nvSpPr>
        <p:spPr>
          <a:xfrm>
            <a:off x="731074" y="2167350"/>
            <a:ext cx="37882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Independant</a:t>
            </a:r>
            <a:r>
              <a:rPr lang="fr-FR" sz="2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Component </a:t>
            </a:r>
            <a:r>
              <a:rPr lang="fr-FR" sz="2000" b="1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Analysis</a:t>
            </a:r>
            <a:endParaRPr lang="fr-FR" sz="2000" b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fr-FR" sz="2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(ICA)</a:t>
            </a:r>
            <a:endParaRPr lang="fr-FR" sz="1400" b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B5EA34-E00E-4209-A739-4184F09348F1}"/>
              </a:ext>
            </a:extLst>
          </p:cNvPr>
          <p:cNvSpPr/>
          <p:nvPr/>
        </p:nvSpPr>
        <p:spPr>
          <a:xfrm>
            <a:off x="589883" y="2928350"/>
            <a:ext cx="42509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92D050"/>
                </a:solidFill>
              </a:rPr>
              <a:t>Objectif</a:t>
            </a:r>
            <a:r>
              <a:rPr lang="fr-FR" sz="1600" dirty="0">
                <a:solidFill>
                  <a:srgbClr val="92D050"/>
                </a:solidFill>
              </a:rPr>
              <a:t> : </a:t>
            </a:r>
            <a:r>
              <a:rPr lang="fr-FR" sz="1400" dirty="0">
                <a:solidFill>
                  <a:schemeClr val="bg1"/>
                </a:solidFill>
              </a:rPr>
              <a:t>Séparer les signaux cérébraux des artéfacts (clignements, battements cardiaques).</a:t>
            </a:r>
          </a:p>
          <a:p>
            <a:br>
              <a:rPr lang="fr-FR" sz="1600" dirty="0">
                <a:solidFill>
                  <a:srgbClr val="92D050"/>
                </a:solidFill>
              </a:rPr>
            </a:br>
            <a:r>
              <a:rPr lang="fr-FR" sz="1600" b="1" u="sng" dirty="0">
                <a:solidFill>
                  <a:srgbClr val="92D050"/>
                </a:solidFill>
              </a:rPr>
              <a:t>Principe</a:t>
            </a:r>
            <a:r>
              <a:rPr lang="fr-FR" sz="1600" dirty="0">
                <a:solidFill>
                  <a:srgbClr val="92D050"/>
                </a:solidFill>
              </a:rPr>
              <a:t> :</a:t>
            </a:r>
          </a:p>
          <a:p>
            <a:r>
              <a:rPr lang="fr-FR" sz="1400" dirty="0">
                <a:solidFill>
                  <a:schemeClr val="bg1"/>
                </a:solidFill>
              </a:rPr>
              <a:t>&gt;Décomposition du signal EEG en composantes indépendantes.</a:t>
            </a:r>
          </a:p>
          <a:p>
            <a:r>
              <a:rPr lang="fr-FR" sz="1400" dirty="0">
                <a:solidFill>
                  <a:schemeClr val="bg1"/>
                </a:solidFill>
              </a:rPr>
              <a:t>&gt;Identification des composantes correspondant à des artéfacts via corrélation avec les canaux EOG / ECG.</a:t>
            </a:r>
          </a:p>
          <a:p>
            <a:r>
              <a:rPr lang="fr-FR" sz="1400" dirty="0">
                <a:solidFill>
                  <a:schemeClr val="bg1"/>
                </a:solidFill>
              </a:rPr>
              <a:t>&gt;Suppression de ces composantes, puis reconstruction du signal propre.</a:t>
            </a:r>
          </a:p>
          <a:p>
            <a:br>
              <a:rPr lang="fr-FR" sz="1600" dirty="0">
                <a:solidFill>
                  <a:srgbClr val="92D050"/>
                </a:solidFill>
              </a:rPr>
            </a:br>
            <a:r>
              <a:rPr lang="fr-FR" sz="1600" b="1" u="sng" dirty="0">
                <a:solidFill>
                  <a:srgbClr val="92D050"/>
                </a:solidFill>
              </a:rPr>
              <a:t>Application</a:t>
            </a:r>
            <a:r>
              <a:rPr lang="fr-FR" sz="1600" dirty="0">
                <a:solidFill>
                  <a:srgbClr val="92D050"/>
                </a:solidFill>
              </a:rPr>
              <a:t> : </a:t>
            </a:r>
            <a:r>
              <a:rPr lang="fr-FR" sz="1400" dirty="0">
                <a:solidFill>
                  <a:schemeClr val="bg1"/>
                </a:solidFill>
              </a:rPr>
              <a:t>uniquement </a:t>
            </a:r>
            <a:r>
              <a:rPr lang="fr-FR" sz="1400" b="1" dirty="0">
                <a:solidFill>
                  <a:schemeClr val="bg1"/>
                </a:solidFill>
              </a:rPr>
              <a:t>sur les canaux EEG</a:t>
            </a:r>
            <a:r>
              <a:rPr lang="fr-FR" sz="1400" dirty="0">
                <a:solidFill>
                  <a:schemeClr val="bg1"/>
                </a:solidFill>
              </a:rPr>
              <a:t>, puis correction </a:t>
            </a:r>
            <a:r>
              <a:rPr lang="fr-FR" sz="1400" b="1" dirty="0">
                <a:solidFill>
                  <a:schemeClr val="bg1"/>
                </a:solidFill>
              </a:rPr>
              <a:t>sur tous les signaux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  <a:endParaRPr lang="fr-FR" sz="1600" dirty="0">
              <a:solidFill>
                <a:schemeClr val="bg1"/>
              </a:solidFill>
            </a:endParaRP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237E9620-76A9-4DE5-A823-2274D5F9F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78033"/>
              </p:ext>
            </p:extLst>
          </p:nvPr>
        </p:nvGraphicFramePr>
        <p:xfrm>
          <a:off x="5866108" y="2168880"/>
          <a:ext cx="6115600" cy="4084320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867906">
                  <a:extLst>
                    <a:ext uri="{9D8B030D-6E8A-4147-A177-3AD203B41FA5}">
                      <a16:colId xmlns:a16="http://schemas.microsoft.com/office/drawing/2014/main" val="2820259908"/>
                    </a:ext>
                  </a:extLst>
                </a:gridCol>
                <a:gridCol w="1410345">
                  <a:extLst>
                    <a:ext uri="{9D8B030D-6E8A-4147-A177-3AD203B41FA5}">
                      <a16:colId xmlns:a16="http://schemas.microsoft.com/office/drawing/2014/main" val="2977034377"/>
                    </a:ext>
                  </a:extLst>
                </a:gridCol>
                <a:gridCol w="1391109">
                  <a:extLst>
                    <a:ext uri="{9D8B030D-6E8A-4147-A177-3AD203B41FA5}">
                      <a16:colId xmlns:a16="http://schemas.microsoft.com/office/drawing/2014/main" val="529262334"/>
                    </a:ext>
                  </a:extLst>
                </a:gridCol>
                <a:gridCol w="1223120">
                  <a:extLst>
                    <a:ext uri="{9D8B030D-6E8A-4147-A177-3AD203B41FA5}">
                      <a16:colId xmlns:a16="http://schemas.microsoft.com/office/drawing/2014/main" val="3871164672"/>
                    </a:ext>
                  </a:extLst>
                </a:gridCol>
                <a:gridCol w="1223120">
                  <a:extLst>
                    <a:ext uri="{9D8B030D-6E8A-4147-A177-3AD203B41FA5}">
                      <a16:colId xmlns:a16="http://schemas.microsoft.com/office/drawing/2014/main" val="3993093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400" dirty="0"/>
                        <a:t>Méthode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Principe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Avantages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Inconvénients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Adapté pour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6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dirty="0" err="1"/>
                        <a:t>FastICA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Maximisation de la non-</a:t>
                      </a:r>
                      <a:r>
                        <a:rPr lang="fr-FR" sz="1400" dirty="0" err="1"/>
                        <a:t>gaussianité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400" dirty="0"/>
                        <a:t>&gt; Rapide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400" dirty="0"/>
                        <a:t>&gt; Facile à utiliser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Moins robuste</a:t>
                      </a:r>
                    </a:p>
                    <a:p>
                      <a:r>
                        <a:rPr lang="fr-FR" sz="1400" dirty="0"/>
                        <a:t>&gt; Sensible au bruit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Tests rapides </a:t>
                      </a:r>
                    </a:p>
                    <a:p>
                      <a:r>
                        <a:rPr lang="fr-FR" sz="1400" dirty="0"/>
                        <a:t>&gt; données propres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63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dirty="0" err="1"/>
                        <a:t>Infomax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Maximisation de l’info mutuelle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Bonne séparation</a:t>
                      </a:r>
                    </a:p>
                    <a:p>
                      <a:r>
                        <a:rPr lang="fr-FR" sz="1400" dirty="0"/>
                        <a:t>&gt; Populaire (EEGLAB)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Plus lent</a:t>
                      </a:r>
                    </a:p>
                    <a:p>
                      <a:r>
                        <a:rPr lang="fr-FR" sz="1400" dirty="0"/>
                        <a:t>&gt; Moins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EEG 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52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dirty="0"/>
                        <a:t>Picard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Optimisation d’</a:t>
                      </a:r>
                      <a:r>
                        <a:rPr lang="fr-FR" sz="1400" dirty="0" err="1"/>
                        <a:t>Infomax</a:t>
                      </a:r>
                      <a:r>
                        <a:rPr lang="fr-FR" sz="1400" dirty="0"/>
                        <a:t> (convergence plus rapide)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Très rapide</a:t>
                      </a:r>
                    </a:p>
                    <a:p>
                      <a:r>
                        <a:rPr lang="fr-FR" sz="1400" dirty="0"/>
                        <a:t>&gt; Robuste aux artefacts</a:t>
                      </a:r>
                    </a:p>
                    <a:p>
                      <a:r>
                        <a:rPr lang="fr-FR" sz="1400" dirty="0"/>
                        <a:t>&gt; Bon compromis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Moins connu</a:t>
                      </a:r>
                    </a:p>
                    <a:p>
                      <a:r>
                        <a:rPr lang="fr-FR" sz="1400" dirty="0"/>
                        <a:t>&gt; Peu de doc grand public*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EEG bruité</a:t>
                      </a:r>
                    </a:p>
                    <a:p>
                      <a:r>
                        <a:rPr lang="fr-FR" sz="1400" dirty="0"/>
                        <a:t>&gt; pipelines automatiques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62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/>
                        <a:t>AMICA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Mélange adaptatif de distributions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&gt;Très précise</a:t>
                      </a:r>
                    </a:p>
                    <a:p>
                      <a:r>
                        <a:rPr lang="fr-FR" sz="1400" dirty="0"/>
                        <a:t>&gt; Gère plusieurs états latents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&gt;Très lent</a:t>
                      </a:r>
                    </a:p>
                    <a:p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&gt; Gourmand en mémoire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&gt; Analyse offline fine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489983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CB88A88-BD6A-40B8-8099-A460A6DCEFB8}"/>
              </a:ext>
            </a:extLst>
          </p:cNvPr>
          <p:cNvSpPr/>
          <p:nvPr/>
        </p:nvSpPr>
        <p:spPr>
          <a:xfrm>
            <a:off x="5866108" y="4377367"/>
            <a:ext cx="6115600" cy="114687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036E6D-48F2-4D64-AA41-C7ADED0FFFFE}"/>
              </a:ext>
            </a:extLst>
          </p:cNvPr>
          <p:cNvSpPr/>
          <p:nvPr/>
        </p:nvSpPr>
        <p:spPr>
          <a:xfrm>
            <a:off x="5866108" y="5521164"/>
            <a:ext cx="6115600" cy="740969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EB7A223-0A3B-4873-80C0-EFE5C0131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9" y="6647009"/>
            <a:ext cx="9324927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Frank, G.,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Makeig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&amp; Delorme, A. (2022). A Framework to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Component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EEG signal :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Picard </a:t>
            </a:r>
            <a:r>
              <a:rPr kumimoji="0" lang="fr-FR" altLang="fr-FR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fr-FR" altLang="fr-FR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2021 IEEE International </a:t>
            </a:r>
            <a:r>
              <a:rPr kumimoji="0" lang="fr-FR" altLang="fr-FR" sz="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  <a:r>
              <a:rPr kumimoji="0" lang="fr-FR" altLang="fr-FR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kumimoji="0" lang="fr-FR" altLang="fr-FR" sz="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</a:t>
            </a:r>
            <a:r>
              <a:rPr kumimoji="0" lang="fr-FR" altLang="fr-FR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fr-FR" altLang="fr-FR" sz="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Biomedicine</a:t>
            </a:r>
            <a:r>
              <a:rPr kumimoji="0" lang="fr-FR" altLang="fr-FR" sz="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(BIBM)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2009‑2016. 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3AD672C1-B4C5-410F-A7B7-8D14EB3D6C6E}"/>
              </a:ext>
            </a:extLst>
          </p:cNvPr>
          <p:cNvSpPr/>
          <p:nvPr/>
        </p:nvSpPr>
        <p:spPr>
          <a:xfrm>
            <a:off x="5098942" y="4277532"/>
            <a:ext cx="526943" cy="1782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3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#2 – Extraction des caractéristiques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12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383034-6A73-46E6-8D40-7A0D79A2CF10}"/>
              </a:ext>
            </a:extLst>
          </p:cNvPr>
          <p:cNvSpPr/>
          <p:nvPr/>
        </p:nvSpPr>
        <p:spPr>
          <a:xfrm>
            <a:off x="405424" y="1789303"/>
            <a:ext cx="10976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prstClr val="black"/>
                </a:solidFill>
              </a:rPr>
              <a:t>Quelques articles traitent des méthodes d’extraction des caractéristiques: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C1F028-5567-443F-8BCB-B46B8795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32802"/>
            <a:ext cx="2808062" cy="37455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BE1B8B-7FDE-4C7A-BB59-B7AE78C3C6AF}"/>
              </a:ext>
            </a:extLst>
          </p:cNvPr>
          <p:cNvSpPr/>
          <p:nvPr/>
        </p:nvSpPr>
        <p:spPr>
          <a:xfrm>
            <a:off x="617699" y="6354375"/>
            <a:ext cx="3106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https://doi.org/10.1186/s40779-023-00502-7</a:t>
            </a:r>
            <a:r>
              <a:rPr lang="fr-FR" sz="1200" dirty="0"/>
              <a:t> 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1566DD-F65B-45CC-BBA7-E42D78FA9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446" y="2532802"/>
            <a:ext cx="2616394" cy="37466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96087A-BA34-4FD4-A6FC-AA2EF67DE570}"/>
              </a:ext>
            </a:extLst>
          </p:cNvPr>
          <p:cNvSpPr/>
          <p:nvPr/>
        </p:nvSpPr>
        <p:spPr>
          <a:xfrm>
            <a:off x="4097228" y="6394260"/>
            <a:ext cx="29200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https://doi.org/10.3389/frai.2022.1072801</a:t>
            </a:r>
            <a:r>
              <a:rPr lang="fr-FR" sz="1200" dirty="0"/>
              <a:t>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D0DF34-6315-46A7-B938-B2FA9EB0B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103" y="2532801"/>
            <a:ext cx="2641045" cy="3745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6410F0-4B48-459B-B367-A47E17DC3C4D}"/>
              </a:ext>
            </a:extLst>
          </p:cNvPr>
          <p:cNvSpPr/>
          <p:nvPr/>
        </p:nvSpPr>
        <p:spPr>
          <a:xfrm>
            <a:off x="7663731" y="6354375"/>
            <a:ext cx="31062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Journal of Engineering Research &amp; Technology (IJERT)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25181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#2 – Extraction des caractéristiques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13</a:t>
            </a:fld>
            <a:endParaRPr lang="fr-FR"/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8D70DF23-7D3C-4BD7-820E-23F2E7B29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583520"/>
              </p:ext>
            </p:extLst>
          </p:nvPr>
        </p:nvGraphicFramePr>
        <p:xfrm>
          <a:off x="2448732" y="1744181"/>
          <a:ext cx="8249775" cy="4981967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007030">
                  <a:extLst>
                    <a:ext uri="{9D8B030D-6E8A-4147-A177-3AD203B41FA5}">
                      <a16:colId xmlns:a16="http://schemas.microsoft.com/office/drawing/2014/main" val="361164049"/>
                    </a:ext>
                  </a:extLst>
                </a:gridCol>
                <a:gridCol w="3492820">
                  <a:extLst>
                    <a:ext uri="{9D8B030D-6E8A-4147-A177-3AD203B41FA5}">
                      <a16:colId xmlns:a16="http://schemas.microsoft.com/office/drawing/2014/main" val="1190501399"/>
                    </a:ext>
                  </a:extLst>
                </a:gridCol>
                <a:gridCol w="2749925">
                  <a:extLst>
                    <a:ext uri="{9D8B030D-6E8A-4147-A177-3AD203B41FA5}">
                      <a16:colId xmlns:a16="http://schemas.microsoft.com/office/drawing/2014/main" val="4214360224"/>
                    </a:ext>
                  </a:extLst>
                </a:gridCol>
              </a:tblGrid>
              <a:tr h="252251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Type de caractéristique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Mesure / Exemple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Biomarqueurs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303520553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Tonus musculaire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Amplitude EMG (ex : Menton) ; % d’activité &gt; seuil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Détection</a:t>
                      </a:r>
                      <a:r>
                        <a:rPr lang="en-US" sz="1200" dirty="0"/>
                        <a:t> du RSWA (REM Sleep Without </a:t>
                      </a:r>
                      <a:r>
                        <a:rPr lang="en-US" sz="1200" dirty="0" err="1"/>
                        <a:t>Atonia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468320282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Mouvements oculaires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Dérivation EOG, taux de déflexions -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Identification de REM toniques vs phasiques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744250813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Spectre EEG</a:t>
                      </a:r>
                    </a:p>
                  </a:txBody>
                  <a:tcPr marL="63063" marR="63063" marT="31531" marB="3153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200" dirty="0"/>
                        <a:t>Puissances par bande : Delta, Thêta, Alpha, Beta, Gamma</a:t>
                      </a:r>
                    </a:p>
                  </a:txBody>
                  <a:tcPr marL="63063" marR="63063" marT="31531" marB="3153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Réduction Alpha, augmentation Thêta/Beta</a:t>
                      </a:r>
                    </a:p>
                  </a:txBody>
                  <a:tcPr marL="63063" marR="63063" marT="31531" marB="31531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87373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Asymétrie / latéralisation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Différences </a:t>
                      </a:r>
                      <a:r>
                        <a:rPr lang="fr-FR" sz="1200" dirty="0" err="1"/>
                        <a:t>inter-hémisphériques</a:t>
                      </a:r>
                      <a:endParaRPr lang="fr-FR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Asymétrie anormale dans certaines pathologies neurodégénératives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550709878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Complexité / Entropie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err="1"/>
                        <a:t>Approximate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entropy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Sample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entropy</a:t>
                      </a:r>
                      <a:r>
                        <a:rPr lang="fr-FR" sz="1200" dirty="0"/>
                        <a:t>, Fractal dimension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Complexité réduite 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139553248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Micro-éveils / Instabilité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Nombre de transitions entre états, fragmentation REM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Augmentation = marqueur de trouble neurodégénératif ou du système autonome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249642747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Connectivité fonctionnelle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err="1"/>
                        <a:t>Coherence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wPLI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Mutual</a:t>
                      </a:r>
                      <a:r>
                        <a:rPr lang="fr-FR" sz="1200" dirty="0"/>
                        <a:t> Information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Réduction ou désorganisation des réseaux fonctionnels corticaux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198074968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Dynamique non-linéaire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DFA, Hurst </a:t>
                      </a:r>
                      <a:r>
                        <a:rPr lang="fr-FR" sz="1200" dirty="0" err="1"/>
                        <a:t>exponent</a:t>
                      </a:r>
                      <a:endParaRPr lang="fr-FR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Altération des dynamiques cérébrales longues portées (ex: alpha-</a:t>
                      </a:r>
                      <a:r>
                        <a:rPr lang="fr-FR" sz="1200" dirty="0" err="1"/>
                        <a:t>synucléinopathies</a:t>
                      </a:r>
                      <a:r>
                        <a:rPr lang="fr-FR" sz="1200" dirty="0"/>
                        <a:t>) </a:t>
                      </a:r>
                      <a:r>
                        <a:rPr lang="fr-FR" sz="1200" dirty="0">
                          <a:sym typeface="Wingdings" panose="05000000000000000000" pitchFamily="2" charset="2"/>
                        </a:rPr>
                        <a:t> Inter-</a:t>
                      </a:r>
                      <a:r>
                        <a:rPr lang="fr-FR" sz="1200" dirty="0" err="1">
                          <a:sym typeface="Wingdings" panose="05000000000000000000" pitchFamily="2" charset="2"/>
                        </a:rPr>
                        <a:t>patho</a:t>
                      </a:r>
                      <a:r>
                        <a:rPr lang="fr-FR" sz="1200" dirty="0">
                          <a:sym typeface="Wingdings" panose="05000000000000000000" pitchFamily="2" charset="2"/>
                        </a:rPr>
                        <a:t> ? </a:t>
                      </a:r>
                      <a:endParaRPr lang="fr-FR" sz="12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077966763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…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…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…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83036803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C6DEAC0-566B-4206-95F3-F2A7C00EEC2A}"/>
              </a:ext>
            </a:extLst>
          </p:cNvPr>
          <p:cNvSpPr/>
          <p:nvPr/>
        </p:nvSpPr>
        <p:spPr>
          <a:xfrm>
            <a:off x="211281" y="3773499"/>
            <a:ext cx="195073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Quelques </a:t>
            </a:r>
            <a:r>
              <a:rPr lang="fr-FR" b="1" dirty="0"/>
              <a:t>caractéristiques</a:t>
            </a:r>
            <a:r>
              <a:rPr lang="fr-FR" dirty="0"/>
              <a:t> en vue</a:t>
            </a:r>
          </a:p>
        </p:txBody>
      </p:sp>
    </p:spTree>
    <p:extLst>
      <p:ext uri="{BB962C8B-B14F-4D97-AF65-F5344CB8AC3E}">
        <p14:creationId xmlns:p14="http://schemas.microsoft.com/office/powerpoint/2010/main" val="17685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#2 – Extraction des caractéristiques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B9426F5-091B-4FE2-ACD1-8DD2596BE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917766"/>
              </p:ext>
            </p:extLst>
          </p:nvPr>
        </p:nvGraphicFramePr>
        <p:xfrm>
          <a:off x="2487947" y="1948570"/>
          <a:ext cx="8478395" cy="4357636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1695679">
                  <a:extLst>
                    <a:ext uri="{9D8B030D-6E8A-4147-A177-3AD203B41FA5}">
                      <a16:colId xmlns:a16="http://schemas.microsoft.com/office/drawing/2014/main" val="2580745481"/>
                    </a:ext>
                  </a:extLst>
                </a:gridCol>
                <a:gridCol w="1695679">
                  <a:extLst>
                    <a:ext uri="{9D8B030D-6E8A-4147-A177-3AD203B41FA5}">
                      <a16:colId xmlns:a16="http://schemas.microsoft.com/office/drawing/2014/main" val="3770104490"/>
                    </a:ext>
                  </a:extLst>
                </a:gridCol>
                <a:gridCol w="1695679">
                  <a:extLst>
                    <a:ext uri="{9D8B030D-6E8A-4147-A177-3AD203B41FA5}">
                      <a16:colId xmlns:a16="http://schemas.microsoft.com/office/drawing/2014/main" val="358202059"/>
                    </a:ext>
                  </a:extLst>
                </a:gridCol>
                <a:gridCol w="1695679">
                  <a:extLst>
                    <a:ext uri="{9D8B030D-6E8A-4147-A177-3AD203B41FA5}">
                      <a16:colId xmlns:a16="http://schemas.microsoft.com/office/drawing/2014/main" val="2363225259"/>
                    </a:ext>
                  </a:extLst>
                </a:gridCol>
                <a:gridCol w="1695679">
                  <a:extLst>
                    <a:ext uri="{9D8B030D-6E8A-4147-A177-3AD203B41FA5}">
                      <a16:colId xmlns:a16="http://schemas.microsoft.com/office/drawing/2014/main" val="2346545407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Approche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Description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Intéressant car…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… mais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Utilité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447975998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REM </a:t>
                      </a:r>
                      <a:r>
                        <a:rPr lang="fr-FR" sz="1200" b="1" dirty="0" err="1"/>
                        <a:t>only</a:t>
                      </a:r>
                      <a:endParaRPr lang="fr-FR" sz="1200" b="1" dirty="0"/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Ne garder que les segments annotés comme REM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Spécificité maximale aux mécanismes REM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Pas d’analyse des transitions ni contexte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Étude de l’activité propre au REM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207276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Pré-REM</a:t>
                      </a:r>
                    </a:p>
                  </a:txBody>
                  <a:tcPr marL="60435" marR="60435" marT="30218" marB="3021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Inclure 10-30s avant le REM </a:t>
                      </a:r>
                    </a:p>
                  </a:txBody>
                  <a:tcPr marL="60435" marR="60435" marT="30218" marB="3021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Permet d’analyser les signatures pré-REM</a:t>
                      </a:r>
                    </a:p>
                  </a:txBody>
                  <a:tcPr marL="60435" marR="60435" marT="30218" marB="3021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Complexifie l’étiquetage et la comparaison</a:t>
                      </a:r>
                    </a:p>
                  </a:txBody>
                  <a:tcPr marL="60435" marR="60435" marT="30218" marB="3021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Étude des biomarqueurs de transition</a:t>
                      </a:r>
                    </a:p>
                  </a:txBody>
                  <a:tcPr marL="60435" marR="60435" marT="30218" marB="3021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399795"/>
                  </a:ext>
                </a:extLst>
              </a:tr>
              <a:tr h="785658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REM phasique / tonique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Séparer les REM en deux types selon activité oculaire ou EMG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Permet de différencier deux sous-états REM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Nécessite une détection précise des phases </a:t>
                      </a:r>
                      <a:r>
                        <a:rPr lang="fr-FR" sz="1200" dirty="0">
                          <a:sym typeface="Wingdings" panose="05000000000000000000" pitchFamily="2" charset="2"/>
                        </a:rPr>
                        <a:t> Manuelle ? Auto ?</a:t>
                      </a:r>
                      <a:endParaRPr lang="fr-FR" sz="1200" dirty="0"/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Analyse fine du REM (biomarqueur ?)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222967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Transition N2 </a:t>
                      </a:r>
                      <a:r>
                        <a:rPr lang="fr-FR" sz="1200" b="1" dirty="0">
                          <a:sym typeface="Wingdings" panose="05000000000000000000" pitchFamily="2" charset="2"/>
                        </a:rPr>
                        <a:t> REM / REM / REM …</a:t>
                      </a:r>
                      <a:endParaRPr lang="fr-FR" sz="1200" b="1" dirty="0"/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Epoques qui chevauchent plusieurs états (ex: 2s N2 + 2s REM)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Permet d’extraire des dynamiques </a:t>
                      </a:r>
                      <a:r>
                        <a:rPr lang="fr-FR" sz="1200" dirty="0" err="1"/>
                        <a:t>inter-stades</a:t>
                      </a:r>
                      <a:endParaRPr lang="fr-FR" sz="1200" dirty="0"/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…</a:t>
                      </a:r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Étude de l’évolution dynamique </a:t>
                      </a:r>
                      <a:r>
                        <a:rPr lang="fr-FR" sz="1200" dirty="0" err="1"/>
                        <a:t>inter-stades</a:t>
                      </a:r>
                      <a:endParaRPr lang="fr-FR" sz="1200" dirty="0"/>
                    </a:p>
                  </a:txBody>
                  <a:tcPr marL="60435" marR="60435" marT="30218" marB="3021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93548"/>
                  </a:ext>
                </a:extLst>
              </a:tr>
              <a:tr h="785658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/>
                        <a:t>Tout le signal avec annotation temporelle</a:t>
                      </a:r>
                    </a:p>
                  </a:txBody>
                  <a:tcPr marL="60435" marR="60435" marT="30218" marB="302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Ne rien couper, mais associer chaque époque à son stade (via labels)</a:t>
                      </a:r>
                    </a:p>
                  </a:txBody>
                  <a:tcPr marL="60435" marR="60435" marT="30218" marB="302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Permet d’avoir un pipeline généraliste </a:t>
                      </a:r>
                      <a:r>
                        <a:rPr lang="fr-FR" sz="1200" dirty="0">
                          <a:sym typeface="Wingdings" panose="05000000000000000000" pitchFamily="2" charset="2"/>
                        </a:rPr>
                        <a:t> Visu</a:t>
                      </a:r>
                      <a:endParaRPr lang="fr-FR" sz="1200" dirty="0"/>
                    </a:p>
                  </a:txBody>
                  <a:tcPr marL="60435" marR="60435" marT="30218" marB="302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Nécessite une classification supervisée</a:t>
                      </a:r>
                    </a:p>
                  </a:txBody>
                  <a:tcPr marL="60435" marR="60435" marT="30218" marB="302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Modèles multi-stades ou séquentiels</a:t>
                      </a:r>
                    </a:p>
                  </a:txBody>
                  <a:tcPr marL="60435" marR="60435" marT="30218" marB="302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688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10D06EC-6CD0-42C0-90F1-C860F41CF65E}"/>
              </a:ext>
            </a:extLst>
          </p:cNvPr>
          <p:cNvSpPr/>
          <p:nvPr/>
        </p:nvSpPr>
        <p:spPr>
          <a:xfrm>
            <a:off x="211281" y="3773499"/>
            <a:ext cx="195073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Quelques </a:t>
            </a:r>
            <a:r>
              <a:rPr lang="fr-FR" b="1" dirty="0"/>
              <a:t>segmentations</a:t>
            </a:r>
            <a:r>
              <a:rPr lang="fr-FR" dirty="0"/>
              <a:t> en vue</a:t>
            </a:r>
          </a:p>
        </p:txBody>
      </p:sp>
    </p:spTree>
    <p:extLst>
      <p:ext uri="{BB962C8B-B14F-4D97-AF65-F5344CB8AC3E}">
        <p14:creationId xmlns:p14="http://schemas.microsoft.com/office/powerpoint/2010/main" val="2573901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21B5C-251B-4CC1-B2D5-45E3C3B0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55" y="2014818"/>
            <a:ext cx="3445149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D6CF6E-DE5E-4738-A82C-FE177E82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8" y="1786544"/>
            <a:ext cx="3415825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B117DD1-25FF-408F-BDAD-0AC61BD9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918" y="2644589"/>
            <a:ext cx="6169051" cy="2263260"/>
          </a:xfrm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fr-FR" b="1" dirty="0">
                <a:sym typeface="Wingdings" panose="05000000000000000000" pitchFamily="2" charset="2"/>
              </a:rPr>
              <a:t>Une telle approche automatisée serait-elle souhaitable ? </a:t>
            </a:r>
          </a:p>
          <a:p>
            <a:pPr marL="0" indent="0" algn="ctr">
              <a:buNone/>
            </a:pPr>
            <a:endParaRPr lang="fr-FR" b="1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fr-FR" dirty="0">
                <a:highlight>
                  <a:srgbClr val="FFFF00"/>
                </a:highlight>
                <a:sym typeface="Wingdings" panose="05000000000000000000" pitchFamily="2" charset="2"/>
              </a:rPr>
              <a:t>Non !!! Pas tout de suite </a:t>
            </a:r>
            <a:r>
              <a:rPr lang="fr-FR" dirty="0">
                <a:sym typeface="Wingdings" panose="05000000000000000000" pitchFamily="2" charset="2"/>
              </a:rPr>
              <a:t> YASA </a:t>
            </a:r>
            <a:r>
              <a:rPr lang="fr-FR" dirty="0" err="1">
                <a:sym typeface="Wingdings" panose="05000000000000000000" pitchFamily="2" charset="2"/>
              </a:rPr>
              <a:t>method</a:t>
            </a:r>
            <a:r>
              <a:rPr lang="fr-FR" dirty="0">
                <a:sym typeface="Wingdings" panose="05000000000000000000" pitchFamily="2" charset="2"/>
              </a:rPr>
              <a:t> mais score de fiabilité. </a:t>
            </a:r>
          </a:p>
          <a:p>
            <a:pPr marL="0" indent="0" algn="ctr">
              <a:buNone/>
            </a:pPr>
            <a:r>
              <a:rPr lang="fr-FR" dirty="0">
                <a:sym typeface="Wingdings" panose="05000000000000000000" pitchFamily="2" charset="2"/>
              </a:rPr>
              <a:t>Solution si proba &lt; seuil, alors demander intervention de l’utilisateur sur la période (époque) en question (=correction)</a:t>
            </a:r>
          </a:p>
        </p:txBody>
      </p:sp>
    </p:spTree>
    <p:extLst>
      <p:ext uri="{BB962C8B-B14F-4D97-AF65-F5344CB8AC3E}">
        <p14:creationId xmlns:p14="http://schemas.microsoft.com/office/powerpoint/2010/main" val="159040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#3 – Construction du modèle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16</a:t>
            </a:fld>
            <a:endParaRPr lang="fr-FR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8CBF67AC-5043-4094-B4E0-233F583F6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200501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Modèles classiques à comparer </a:t>
            </a:r>
            <a:r>
              <a:rPr lang="fr-FR" dirty="0" err="1"/>
              <a:t>entre-eux</a:t>
            </a:r>
            <a:r>
              <a:rPr lang="fr-FR" dirty="0"/>
              <a:t> pour les résultats: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Random</a:t>
            </a:r>
            <a:r>
              <a:rPr lang="fr-FR" dirty="0"/>
              <a:t> Forest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SVM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Xgboost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5CFDCE1-5AA5-4032-ACEF-1FF79E90C95C}"/>
              </a:ext>
            </a:extLst>
          </p:cNvPr>
          <p:cNvSpPr txBox="1"/>
          <p:nvPr/>
        </p:nvSpPr>
        <p:spPr>
          <a:xfrm>
            <a:off x="3870960" y="2513047"/>
            <a:ext cx="6979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ensemble d’arbres de décision, construits sur des sous-échantillons des données avec des sous-ensembles de variables. La prédiction finale est une moyenne (régression) ou un vote majoritaire (classification) entre tous les arbres.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modèle robuste au surapprentissage.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75261A-DC02-4359-B0AD-78298BF54BCA}"/>
              </a:ext>
            </a:extLst>
          </p:cNvPr>
          <p:cNvSpPr txBox="1"/>
          <p:nvPr/>
        </p:nvSpPr>
        <p:spPr>
          <a:xfrm>
            <a:off x="2717800" y="3893198"/>
            <a:ext cx="6979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cherche une frontière de séparation optimale entre les classes, en maximisant la marge entre les points les plus proches de chaque classe.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peut aussi utiliser des fonctions noyaux pour gérer des données non linéaires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552FA99-93AD-4AA6-9536-8BE8604A8ABD}"/>
              </a:ext>
            </a:extLst>
          </p:cNvPr>
          <p:cNvSpPr txBox="1"/>
          <p:nvPr/>
        </p:nvSpPr>
        <p:spPr>
          <a:xfrm>
            <a:off x="3002280" y="5303362"/>
            <a:ext cx="697992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 modèle d’arbres de décision enchaînés (</a:t>
            </a:r>
            <a:r>
              <a:rPr lang="fr-FR" i="1" dirty="0" err="1"/>
              <a:t>boosting</a:t>
            </a:r>
            <a:r>
              <a:rPr lang="fr-FR" i="1" dirty="0"/>
              <a:t>), où chaque nouvel arbre apprend à corriger les erreurs du précédent.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très performant, rapide, dispose de régularisations intégrées pour éviter le surapprentissage mais surtout = capture mieux les non-linéarités-complexes</a:t>
            </a:r>
          </a:p>
        </p:txBody>
      </p:sp>
    </p:spTree>
    <p:extLst>
      <p:ext uri="{BB962C8B-B14F-4D97-AF65-F5344CB8AC3E}">
        <p14:creationId xmlns:p14="http://schemas.microsoft.com/office/powerpoint/2010/main" val="106327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17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21B5C-251B-4CC1-B2D5-45E3C3B0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55" y="2014818"/>
            <a:ext cx="3445149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D6CF6E-DE5E-4738-A82C-FE177E82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8" y="1786544"/>
            <a:ext cx="3415825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B117DD1-25FF-408F-BDAD-0AC61BD9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989" y="2127344"/>
            <a:ext cx="6169051" cy="4229006"/>
          </a:xfrm>
        </p:spPr>
        <p:txBody>
          <a:bodyPr>
            <a:normAutofit lnSpcReduction="10000"/>
          </a:bodyPr>
          <a:lstStyle/>
          <a:p>
            <a:r>
              <a:rPr lang="fr-FR" dirty="0"/>
              <a:t>But : Développer une méthode de classification des stades du sommeil (pour identifier REM) à partir d’un seul canal EEG en exploitant la microstructure du REM.</a:t>
            </a:r>
          </a:p>
          <a:p>
            <a:endParaRPr lang="fr-FR" dirty="0"/>
          </a:p>
          <a:p>
            <a:r>
              <a:rPr lang="fr-FR" dirty="0"/>
              <a:t>Résultats : REM détecté avec bonne précision même avec un seul canal EEG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Extraction de 164 </a:t>
            </a:r>
            <a:r>
              <a:rPr lang="fr-FR" dirty="0" err="1">
                <a:sym typeface="Wingdings" panose="05000000000000000000" pitchFamily="2" charset="2"/>
              </a:rPr>
              <a:t>features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F1-score ~0,83 (</a:t>
            </a:r>
            <a:r>
              <a:rPr lang="fr-FR" dirty="0" err="1">
                <a:sym typeface="Wingdings" panose="05000000000000000000" pitchFamily="2" charset="2"/>
              </a:rPr>
              <a:t>Random</a:t>
            </a:r>
            <a:r>
              <a:rPr lang="fr-FR" dirty="0">
                <a:sym typeface="Wingdings" panose="05000000000000000000" pitchFamily="2" charset="2"/>
              </a:rPr>
              <a:t> Forest)</a:t>
            </a:r>
          </a:p>
        </p:txBody>
      </p:sp>
    </p:spTree>
    <p:extLst>
      <p:ext uri="{BB962C8B-B14F-4D97-AF65-F5344CB8AC3E}">
        <p14:creationId xmlns:p14="http://schemas.microsoft.com/office/powerpoint/2010/main" val="15307448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3285</TotalTime>
  <Words>1318</Words>
  <Application>Microsoft Office PowerPoint</Application>
  <PresentationFormat>Grand écran</PresentationFormat>
  <Paragraphs>220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Thème Office</vt:lpstr>
      <vt:lpstr>Analyse de signaux neurophysiologiques dans le Trouble du Comportement en Sommeil Paradoxal (TCSP)</vt:lpstr>
      <vt:lpstr>Contexte</vt:lpstr>
      <vt:lpstr>Contexte</vt:lpstr>
      <vt:lpstr>Problématique</vt:lpstr>
      <vt:lpstr>Choix du modèle</vt:lpstr>
      <vt:lpstr>Choix du modèle</vt:lpstr>
      <vt:lpstr>Choix du modèle</vt:lpstr>
      <vt:lpstr>Choix du modèle</vt:lpstr>
      <vt:lpstr>1ère Approche ML</vt:lpstr>
      <vt:lpstr>#1 – Prétraitement des données</vt:lpstr>
      <vt:lpstr>#1 – Prétraitement des données</vt:lpstr>
      <vt:lpstr>#2 – Extraction des caractéristiques</vt:lpstr>
      <vt:lpstr>#2 – Extraction des caractéristiques</vt:lpstr>
      <vt:lpstr>#2 – Extraction des caractéristiques</vt:lpstr>
      <vt:lpstr>Questions</vt:lpstr>
      <vt:lpstr>#3 – Construction du modèle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 signaux neurophysiologiques dans le Trouble du Comportement en Sommeil Paradoxal (TCSP)</dc:title>
  <dc:creator>Darryl Dessalines</dc:creator>
  <cp:lastModifiedBy>Darryl Dessalines</cp:lastModifiedBy>
  <cp:revision>43</cp:revision>
  <dcterms:created xsi:type="dcterms:W3CDTF">2025-07-06T10:21:27Z</dcterms:created>
  <dcterms:modified xsi:type="dcterms:W3CDTF">2025-07-17T12:37:56Z</dcterms:modified>
</cp:coreProperties>
</file>