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omments/comment1.xml" ContentType="application/vnd.openxmlformats-officedocument.presentationml.comment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omments/comment2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60" r:id="rId4"/>
    <p:sldId id="258" r:id="rId5"/>
    <p:sldId id="263" r:id="rId6"/>
    <p:sldId id="267" r:id="rId7"/>
    <p:sldId id="266" r:id="rId8"/>
    <p:sldId id="268" r:id="rId9"/>
    <p:sldId id="259" r:id="rId10"/>
    <p:sldId id="269" r:id="rId11"/>
    <p:sldId id="261" r:id="rId12"/>
    <p:sldId id="262" r:id="rId13"/>
    <p:sldId id="270" r:id="rId14"/>
    <p:sldId id="264" r:id="rId15"/>
    <p:sldId id="265" r:id="rId1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arryl Dessalines" initials="DD" lastIdx="8" clrIdx="0">
    <p:extLst>
      <p:ext uri="{19B8F6BF-5375-455C-9EA6-DF929625EA0E}">
        <p15:presenceInfo xmlns:p15="http://schemas.microsoft.com/office/powerpoint/2012/main" userId="S-1-5-21-3823849357-2230255537-1563912185-39713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546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2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07-06T13:31:28.907" idx="3">
    <p:pos x="7092" y="2202"/>
    <p:text>Est-ce la bonne def ?</p:text>
    <p:extLst>
      <p:ext uri="{C676402C-5697-4E1C-873F-D02D1690AC5C}">
        <p15:threadingInfo xmlns:p15="http://schemas.microsoft.com/office/powerpoint/2012/main" timeZoneBias="-120"/>
      </p:ext>
    </p:extLst>
  </p:cm>
  <p:cm authorId="1" dt="2025-07-06T13:32:11.926" idx="4">
    <p:pos x="6552" y="3090"/>
    <p:text>Source ?</p:text>
    <p:extLst>
      <p:ext uri="{C676402C-5697-4E1C-873F-D02D1690AC5C}">
        <p15:threadingInfo xmlns:p15="http://schemas.microsoft.com/office/powerpoint/2012/main" timeZoneBias="-120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07-06T14:06:25.643" idx="5">
    <p:pos x="6421" y="2180"/>
    <p:text>On décompose le signal en un ensemble de composantes supposées statistiquement indépendantes.</p:text>
    <p:extLst>
      <p:ext uri="{C676402C-5697-4E1C-873F-D02D1690AC5C}">
        <p15:threadingInfo xmlns:p15="http://schemas.microsoft.com/office/powerpoint/2012/main" timeZoneBias="-120"/>
      </p:ext>
    </p:extLst>
  </p:cm>
  <p:cm authorId="1" dt="2025-07-06T14:07:46.641" idx="6">
    <p:pos x="6421" y="2316"/>
    <p:text>Une fois identifiées les composantes parasites sont ensuite supprimées, et le signal nettoyé est reconstruit sans elles</p:text>
    <p:extLst>
      <p:ext uri="{C676402C-5697-4E1C-873F-D02D1690AC5C}">
        <p15:threadingInfo xmlns:p15="http://schemas.microsoft.com/office/powerpoint/2012/main" timeZoneBias="-120">
          <p15:parentCm authorId="1" idx="5"/>
        </p15:threadingInfo>
      </p:ext>
    </p:extLst>
  </p:cm>
  <p:cm authorId="1" dt="2025-07-06T14:10:16.381" idx="7">
    <p:pos x="6421" y="2452"/>
    <p:text>Expérience métier : 
Avez-vous en tête d'autres éléments pouvant être considérés comme artéfacts du signal ?</p:text>
    <p:extLst>
      <p:ext uri="{C676402C-5697-4E1C-873F-D02D1690AC5C}">
        <p15:threadingInfo xmlns:p15="http://schemas.microsoft.com/office/powerpoint/2012/main" timeZoneBias="-120">
          <p15:parentCm authorId="1" idx="5"/>
        </p15:threadingInfo>
      </p:ext>
    </p:extLst>
  </p:cm>
  <p:cm authorId="1" dt="2025-07-06T14:11:29.494" idx="8">
    <p:pos x="3936" y="3060"/>
    <p:text>Montrer les plot qui sont dans eeg_exploring.ipynb</p:text>
    <p:extLst>
      <p:ext uri="{C676402C-5697-4E1C-873F-D02D1690AC5C}">
        <p15:threadingInfo xmlns:p15="http://schemas.microsoft.com/office/powerpoint/2012/main" timeZoneBias="-120"/>
      </p:ext>
    </p:extLst>
  </p:cm>
</p:cmLst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6714ACB-692B-4FD7-8686-A15252FE87D1}" type="doc">
      <dgm:prSet loTypeId="urn:microsoft.com/office/officeart/2005/8/layout/chevron2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fr-FR"/>
        </a:p>
      </dgm:t>
    </dgm:pt>
    <dgm:pt modelId="{B9A1C016-3730-4D0E-A54E-87520218069D}">
      <dgm:prSet phldrT="[Texte]"/>
      <dgm:spPr>
        <a:solidFill>
          <a:srgbClr val="44546A"/>
        </a:solidFill>
      </dgm:spPr>
      <dgm:t>
        <a:bodyPr/>
        <a:lstStyle/>
        <a:p>
          <a:r>
            <a:rPr lang="fr-FR" dirty="0"/>
            <a:t>#1</a:t>
          </a:r>
        </a:p>
      </dgm:t>
    </dgm:pt>
    <dgm:pt modelId="{B37C838C-5934-4CCB-B1ED-690DE4421FC8}" type="parTrans" cxnId="{C8FB51B4-F716-478B-98FA-3CAC5F3D1C63}">
      <dgm:prSet/>
      <dgm:spPr/>
      <dgm:t>
        <a:bodyPr/>
        <a:lstStyle/>
        <a:p>
          <a:endParaRPr lang="fr-FR"/>
        </a:p>
      </dgm:t>
    </dgm:pt>
    <dgm:pt modelId="{B2BB1C25-655E-45F8-995B-D2B40BA9FF96}" type="sibTrans" cxnId="{C8FB51B4-F716-478B-98FA-3CAC5F3D1C63}">
      <dgm:prSet/>
      <dgm:spPr/>
      <dgm:t>
        <a:bodyPr/>
        <a:lstStyle/>
        <a:p>
          <a:endParaRPr lang="fr-FR"/>
        </a:p>
      </dgm:t>
    </dgm:pt>
    <dgm:pt modelId="{50CC9445-9B58-4F00-B603-3E07055381E0}">
      <dgm:prSet phldrT="[Texte]"/>
      <dgm:spPr/>
      <dgm:t>
        <a:bodyPr/>
        <a:lstStyle/>
        <a:p>
          <a:r>
            <a:rPr lang="fr-FR" dirty="0"/>
            <a:t>Prétraitement des données</a:t>
          </a:r>
        </a:p>
      </dgm:t>
    </dgm:pt>
    <dgm:pt modelId="{093EAF9F-2F89-4A7D-95E7-7A1B8E84E5E7}" type="parTrans" cxnId="{E970084C-8D03-4A6D-9128-7D1AB6158A82}">
      <dgm:prSet/>
      <dgm:spPr/>
      <dgm:t>
        <a:bodyPr/>
        <a:lstStyle/>
        <a:p>
          <a:endParaRPr lang="fr-FR"/>
        </a:p>
      </dgm:t>
    </dgm:pt>
    <dgm:pt modelId="{7FCDADF1-B0A2-448A-984C-E1F1A8CBB94B}" type="sibTrans" cxnId="{E970084C-8D03-4A6D-9128-7D1AB6158A82}">
      <dgm:prSet/>
      <dgm:spPr/>
      <dgm:t>
        <a:bodyPr/>
        <a:lstStyle/>
        <a:p>
          <a:endParaRPr lang="fr-FR"/>
        </a:p>
      </dgm:t>
    </dgm:pt>
    <dgm:pt modelId="{38ADB08E-D173-42C8-8D76-467505E87E8E}">
      <dgm:prSet phldrT="[Texte]"/>
      <dgm:spPr/>
      <dgm:t>
        <a:bodyPr/>
        <a:lstStyle/>
        <a:p>
          <a:r>
            <a:rPr lang="fr-FR" dirty="0"/>
            <a:t>#2</a:t>
          </a:r>
        </a:p>
      </dgm:t>
    </dgm:pt>
    <dgm:pt modelId="{4F9D87DE-B1EB-480A-9C37-CCED9F1FAE9B}" type="parTrans" cxnId="{6680511B-EC65-49E5-BCE0-5C81010B9F0E}">
      <dgm:prSet/>
      <dgm:spPr/>
      <dgm:t>
        <a:bodyPr/>
        <a:lstStyle/>
        <a:p>
          <a:endParaRPr lang="fr-FR"/>
        </a:p>
      </dgm:t>
    </dgm:pt>
    <dgm:pt modelId="{8CAFBCE6-04DF-47E2-A592-BDC606869EEB}" type="sibTrans" cxnId="{6680511B-EC65-49E5-BCE0-5C81010B9F0E}">
      <dgm:prSet/>
      <dgm:spPr/>
      <dgm:t>
        <a:bodyPr/>
        <a:lstStyle/>
        <a:p>
          <a:endParaRPr lang="fr-FR"/>
        </a:p>
      </dgm:t>
    </dgm:pt>
    <dgm:pt modelId="{680D8A6F-6104-4468-8255-2887F61DA0FF}">
      <dgm:prSet phldrT="[Texte]"/>
      <dgm:spPr/>
      <dgm:t>
        <a:bodyPr/>
        <a:lstStyle/>
        <a:p>
          <a:r>
            <a:rPr lang="fr-FR" dirty="0"/>
            <a:t>Extraction des caractéristiques</a:t>
          </a:r>
        </a:p>
      </dgm:t>
    </dgm:pt>
    <dgm:pt modelId="{C993A404-1CE5-458F-AA5E-88B29782CE8A}" type="parTrans" cxnId="{45C5631F-5915-41A8-B2EB-E19E4FD54248}">
      <dgm:prSet/>
      <dgm:spPr/>
      <dgm:t>
        <a:bodyPr/>
        <a:lstStyle/>
        <a:p>
          <a:endParaRPr lang="fr-FR"/>
        </a:p>
      </dgm:t>
    </dgm:pt>
    <dgm:pt modelId="{165610DA-A137-4878-ACFC-8913FE526590}" type="sibTrans" cxnId="{45C5631F-5915-41A8-B2EB-E19E4FD54248}">
      <dgm:prSet/>
      <dgm:spPr/>
      <dgm:t>
        <a:bodyPr/>
        <a:lstStyle/>
        <a:p>
          <a:endParaRPr lang="fr-FR"/>
        </a:p>
      </dgm:t>
    </dgm:pt>
    <dgm:pt modelId="{936CDB5A-4D55-48AA-A477-0257872C9FF5}">
      <dgm:prSet phldrT="[Texte]"/>
      <dgm:spPr/>
      <dgm:t>
        <a:bodyPr/>
        <a:lstStyle/>
        <a:p>
          <a:r>
            <a:rPr lang="fr-FR" dirty="0"/>
            <a:t>#3</a:t>
          </a:r>
        </a:p>
      </dgm:t>
    </dgm:pt>
    <dgm:pt modelId="{B9EABA88-E8C4-49B1-83ED-985C17133B4E}" type="parTrans" cxnId="{47274CB9-363B-41F9-B226-BCF09043A550}">
      <dgm:prSet/>
      <dgm:spPr/>
      <dgm:t>
        <a:bodyPr/>
        <a:lstStyle/>
        <a:p>
          <a:endParaRPr lang="fr-FR"/>
        </a:p>
      </dgm:t>
    </dgm:pt>
    <dgm:pt modelId="{B715BB84-6002-46BC-901B-243B3EAAE531}" type="sibTrans" cxnId="{47274CB9-363B-41F9-B226-BCF09043A550}">
      <dgm:prSet/>
      <dgm:spPr/>
      <dgm:t>
        <a:bodyPr/>
        <a:lstStyle/>
        <a:p>
          <a:endParaRPr lang="fr-FR"/>
        </a:p>
      </dgm:t>
    </dgm:pt>
    <dgm:pt modelId="{6DFB4317-EF82-4E60-B8C5-82D9B58F943A}">
      <dgm:prSet phldrT="[Texte]"/>
      <dgm:spPr/>
      <dgm:t>
        <a:bodyPr/>
        <a:lstStyle/>
        <a:p>
          <a:r>
            <a:rPr lang="fr-FR" dirty="0"/>
            <a:t>Construction du modèle</a:t>
          </a:r>
        </a:p>
      </dgm:t>
    </dgm:pt>
    <dgm:pt modelId="{F1562D5C-DC8E-45E6-BD96-1C5211ED91FE}" type="parTrans" cxnId="{67920FF0-0515-49EB-9170-48DB59AE00DE}">
      <dgm:prSet/>
      <dgm:spPr/>
      <dgm:t>
        <a:bodyPr/>
        <a:lstStyle/>
        <a:p>
          <a:endParaRPr lang="fr-FR"/>
        </a:p>
      </dgm:t>
    </dgm:pt>
    <dgm:pt modelId="{C1C1B8E6-492E-4A33-81B5-071DF17E2ABF}" type="sibTrans" cxnId="{67920FF0-0515-49EB-9170-48DB59AE00DE}">
      <dgm:prSet/>
      <dgm:spPr/>
      <dgm:t>
        <a:bodyPr/>
        <a:lstStyle/>
        <a:p>
          <a:endParaRPr lang="fr-FR"/>
        </a:p>
      </dgm:t>
    </dgm:pt>
    <dgm:pt modelId="{71518D83-6741-4EAD-8914-ADCDF64B317D}" type="pres">
      <dgm:prSet presAssocID="{96714ACB-692B-4FD7-8686-A15252FE87D1}" presName="linearFlow" presStyleCnt="0">
        <dgm:presLayoutVars>
          <dgm:dir/>
          <dgm:animLvl val="lvl"/>
          <dgm:resizeHandles val="exact"/>
        </dgm:presLayoutVars>
      </dgm:prSet>
      <dgm:spPr/>
    </dgm:pt>
    <dgm:pt modelId="{72602F47-EDED-4A2F-9F10-664FFDE9A9C1}" type="pres">
      <dgm:prSet presAssocID="{B9A1C016-3730-4D0E-A54E-87520218069D}" presName="composite" presStyleCnt="0"/>
      <dgm:spPr/>
    </dgm:pt>
    <dgm:pt modelId="{6ABD4C50-FC73-4241-B9AE-865DD810FD60}" type="pres">
      <dgm:prSet presAssocID="{B9A1C016-3730-4D0E-A54E-87520218069D}" presName="parentText" presStyleLbl="alignNode1" presStyleIdx="0" presStyleCnt="3">
        <dgm:presLayoutVars>
          <dgm:chMax val="1"/>
          <dgm:bulletEnabled val="1"/>
        </dgm:presLayoutVars>
      </dgm:prSet>
      <dgm:spPr/>
    </dgm:pt>
    <dgm:pt modelId="{102B6291-B122-4E42-82CC-EB6D3D54CF66}" type="pres">
      <dgm:prSet presAssocID="{B9A1C016-3730-4D0E-A54E-87520218069D}" presName="descendantText" presStyleLbl="alignAcc1" presStyleIdx="0" presStyleCnt="3">
        <dgm:presLayoutVars>
          <dgm:bulletEnabled val="1"/>
        </dgm:presLayoutVars>
      </dgm:prSet>
      <dgm:spPr/>
    </dgm:pt>
    <dgm:pt modelId="{1F476B68-DB55-422D-B83C-BC69E6269344}" type="pres">
      <dgm:prSet presAssocID="{B2BB1C25-655E-45F8-995B-D2B40BA9FF96}" presName="sp" presStyleCnt="0"/>
      <dgm:spPr/>
    </dgm:pt>
    <dgm:pt modelId="{C0F585E9-729F-4836-B173-7ADDC105B62D}" type="pres">
      <dgm:prSet presAssocID="{38ADB08E-D173-42C8-8D76-467505E87E8E}" presName="composite" presStyleCnt="0"/>
      <dgm:spPr/>
    </dgm:pt>
    <dgm:pt modelId="{144574FE-BE83-4D57-89C7-7421A44AE584}" type="pres">
      <dgm:prSet presAssocID="{38ADB08E-D173-42C8-8D76-467505E87E8E}" presName="parentText" presStyleLbl="alignNode1" presStyleIdx="1" presStyleCnt="3">
        <dgm:presLayoutVars>
          <dgm:chMax val="1"/>
          <dgm:bulletEnabled val="1"/>
        </dgm:presLayoutVars>
      </dgm:prSet>
      <dgm:spPr/>
    </dgm:pt>
    <dgm:pt modelId="{965DD248-5882-4CB8-A37B-FE173AB1E9B1}" type="pres">
      <dgm:prSet presAssocID="{38ADB08E-D173-42C8-8D76-467505E87E8E}" presName="descendantText" presStyleLbl="alignAcc1" presStyleIdx="1" presStyleCnt="3">
        <dgm:presLayoutVars>
          <dgm:bulletEnabled val="1"/>
        </dgm:presLayoutVars>
      </dgm:prSet>
      <dgm:spPr/>
    </dgm:pt>
    <dgm:pt modelId="{BCFBDDC7-FC70-423C-82F3-B7C1D9ADBFBE}" type="pres">
      <dgm:prSet presAssocID="{8CAFBCE6-04DF-47E2-A592-BDC606869EEB}" presName="sp" presStyleCnt="0"/>
      <dgm:spPr/>
    </dgm:pt>
    <dgm:pt modelId="{3693C562-37C3-4A50-9667-1B0B1B52BAA2}" type="pres">
      <dgm:prSet presAssocID="{936CDB5A-4D55-48AA-A477-0257872C9FF5}" presName="composite" presStyleCnt="0"/>
      <dgm:spPr/>
    </dgm:pt>
    <dgm:pt modelId="{3BB2A06E-4411-4316-BD56-D0975D3D3A73}" type="pres">
      <dgm:prSet presAssocID="{936CDB5A-4D55-48AA-A477-0257872C9FF5}" presName="parentText" presStyleLbl="alignNode1" presStyleIdx="2" presStyleCnt="3">
        <dgm:presLayoutVars>
          <dgm:chMax val="1"/>
          <dgm:bulletEnabled val="1"/>
        </dgm:presLayoutVars>
      </dgm:prSet>
      <dgm:spPr/>
    </dgm:pt>
    <dgm:pt modelId="{12646383-5F6E-46C0-AD8F-223FAEEBF2AC}" type="pres">
      <dgm:prSet presAssocID="{936CDB5A-4D55-48AA-A477-0257872C9FF5}" presName="descendantText" presStyleLbl="alignAcc1" presStyleIdx="2" presStyleCnt="3">
        <dgm:presLayoutVars>
          <dgm:bulletEnabled val="1"/>
        </dgm:presLayoutVars>
      </dgm:prSet>
      <dgm:spPr/>
    </dgm:pt>
  </dgm:ptLst>
  <dgm:cxnLst>
    <dgm:cxn modelId="{0E217614-EF1A-4768-B2D0-77BB1C6E2837}" type="presOf" srcId="{B9A1C016-3730-4D0E-A54E-87520218069D}" destId="{6ABD4C50-FC73-4241-B9AE-865DD810FD60}" srcOrd="0" destOrd="0" presId="urn:microsoft.com/office/officeart/2005/8/layout/chevron2"/>
    <dgm:cxn modelId="{6680511B-EC65-49E5-BCE0-5C81010B9F0E}" srcId="{96714ACB-692B-4FD7-8686-A15252FE87D1}" destId="{38ADB08E-D173-42C8-8D76-467505E87E8E}" srcOrd="1" destOrd="0" parTransId="{4F9D87DE-B1EB-480A-9C37-CCED9F1FAE9B}" sibTransId="{8CAFBCE6-04DF-47E2-A592-BDC606869EEB}"/>
    <dgm:cxn modelId="{7C05721D-B0DC-4C15-9580-67F7C25D0223}" type="presOf" srcId="{50CC9445-9B58-4F00-B603-3E07055381E0}" destId="{102B6291-B122-4E42-82CC-EB6D3D54CF66}" srcOrd="0" destOrd="0" presId="urn:microsoft.com/office/officeart/2005/8/layout/chevron2"/>
    <dgm:cxn modelId="{45C5631F-5915-41A8-B2EB-E19E4FD54248}" srcId="{38ADB08E-D173-42C8-8D76-467505E87E8E}" destId="{680D8A6F-6104-4468-8255-2887F61DA0FF}" srcOrd="0" destOrd="0" parTransId="{C993A404-1CE5-458F-AA5E-88B29782CE8A}" sibTransId="{165610DA-A137-4878-ACFC-8913FE526590}"/>
    <dgm:cxn modelId="{BE300365-37FB-4CC9-AEF0-93C6F99225D9}" type="presOf" srcId="{6DFB4317-EF82-4E60-B8C5-82D9B58F943A}" destId="{12646383-5F6E-46C0-AD8F-223FAEEBF2AC}" srcOrd="0" destOrd="0" presId="urn:microsoft.com/office/officeart/2005/8/layout/chevron2"/>
    <dgm:cxn modelId="{E970084C-8D03-4A6D-9128-7D1AB6158A82}" srcId="{B9A1C016-3730-4D0E-A54E-87520218069D}" destId="{50CC9445-9B58-4F00-B603-3E07055381E0}" srcOrd="0" destOrd="0" parTransId="{093EAF9F-2F89-4A7D-95E7-7A1B8E84E5E7}" sibTransId="{7FCDADF1-B0A2-448A-984C-E1F1A8CBB94B}"/>
    <dgm:cxn modelId="{D47FBC84-417A-4378-8C8E-0ACED7FB9CE1}" type="presOf" srcId="{680D8A6F-6104-4468-8255-2887F61DA0FF}" destId="{965DD248-5882-4CB8-A37B-FE173AB1E9B1}" srcOrd="0" destOrd="0" presId="urn:microsoft.com/office/officeart/2005/8/layout/chevron2"/>
    <dgm:cxn modelId="{C8FB51B4-F716-478B-98FA-3CAC5F3D1C63}" srcId="{96714ACB-692B-4FD7-8686-A15252FE87D1}" destId="{B9A1C016-3730-4D0E-A54E-87520218069D}" srcOrd="0" destOrd="0" parTransId="{B37C838C-5934-4CCB-B1ED-690DE4421FC8}" sibTransId="{B2BB1C25-655E-45F8-995B-D2B40BA9FF96}"/>
    <dgm:cxn modelId="{47274CB9-363B-41F9-B226-BCF09043A550}" srcId="{96714ACB-692B-4FD7-8686-A15252FE87D1}" destId="{936CDB5A-4D55-48AA-A477-0257872C9FF5}" srcOrd="2" destOrd="0" parTransId="{B9EABA88-E8C4-49B1-83ED-985C17133B4E}" sibTransId="{B715BB84-6002-46BC-901B-243B3EAAE531}"/>
    <dgm:cxn modelId="{B009D9CC-9DE3-4D73-A4C2-5F4E7C324527}" type="presOf" srcId="{96714ACB-692B-4FD7-8686-A15252FE87D1}" destId="{71518D83-6741-4EAD-8914-ADCDF64B317D}" srcOrd="0" destOrd="0" presId="urn:microsoft.com/office/officeart/2005/8/layout/chevron2"/>
    <dgm:cxn modelId="{0C757DD2-5F8C-4BDC-9DF6-868526FCCAEA}" type="presOf" srcId="{936CDB5A-4D55-48AA-A477-0257872C9FF5}" destId="{3BB2A06E-4411-4316-BD56-D0975D3D3A73}" srcOrd="0" destOrd="0" presId="urn:microsoft.com/office/officeart/2005/8/layout/chevron2"/>
    <dgm:cxn modelId="{67920FF0-0515-49EB-9170-48DB59AE00DE}" srcId="{936CDB5A-4D55-48AA-A477-0257872C9FF5}" destId="{6DFB4317-EF82-4E60-B8C5-82D9B58F943A}" srcOrd="0" destOrd="0" parTransId="{F1562D5C-DC8E-45E6-BD96-1C5211ED91FE}" sibTransId="{C1C1B8E6-492E-4A33-81B5-071DF17E2ABF}"/>
    <dgm:cxn modelId="{B24632F8-A87D-44B4-A4A2-BCE80A4425DF}" type="presOf" srcId="{38ADB08E-D173-42C8-8D76-467505E87E8E}" destId="{144574FE-BE83-4D57-89C7-7421A44AE584}" srcOrd="0" destOrd="0" presId="urn:microsoft.com/office/officeart/2005/8/layout/chevron2"/>
    <dgm:cxn modelId="{3BC6EC80-72AE-43D5-915E-0422CA2043FB}" type="presParOf" srcId="{71518D83-6741-4EAD-8914-ADCDF64B317D}" destId="{72602F47-EDED-4A2F-9F10-664FFDE9A9C1}" srcOrd="0" destOrd="0" presId="urn:microsoft.com/office/officeart/2005/8/layout/chevron2"/>
    <dgm:cxn modelId="{DD427507-56C7-432A-A2C1-673B3C3B10E8}" type="presParOf" srcId="{72602F47-EDED-4A2F-9F10-664FFDE9A9C1}" destId="{6ABD4C50-FC73-4241-B9AE-865DD810FD60}" srcOrd="0" destOrd="0" presId="urn:microsoft.com/office/officeart/2005/8/layout/chevron2"/>
    <dgm:cxn modelId="{7D68B3CE-1054-4920-9239-EFE93CCAFEAA}" type="presParOf" srcId="{72602F47-EDED-4A2F-9F10-664FFDE9A9C1}" destId="{102B6291-B122-4E42-82CC-EB6D3D54CF66}" srcOrd="1" destOrd="0" presId="urn:microsoft.com/office/officeart/2005/8/layout/chevron2"/>
    <dgm:cxn modelId="{19725698-D87D-46E1-8AB3-227EDF8B52BE}" type="presParOf" srcId="{71518D83-6741-4EAD-8914-ADCDF64B317D}" destId="{1F476B68-DB55-422D-B83C-BC69E6269344}" srcOrd="1" destOrd="0" presId="urn:microsoft.com/office/officeart/2005/8/layout/chevron2"/>
    <dgm:cxn modelId="{0B5CD264-46C1-48DB-9394-AC7D8AF7F6EF}" type="presParOf" srcId="{71518D83-6741-4EAD-8914-ADCDF64B317D}" destId="{C0F585E9-729F-4836-B173-7ADDC105B62D}" srcOrd="2" destOrd="0" presId="urn:microsoft.com/office/officeart/2005/8/layout/chevron2"/>
    <dgm:cxn modelId="{D776146E-147B-47BF-8D26-207BAAC3D7B7}" type="presParOf" srcId="{C0F585E9-729F-4836-B173-7ADDC105B62D}" destId="{144574FE-BE83-4D57-89C7-7421A44AE584}" srcOrd="0" destOrd="0" presId="urn:microsoft.com/office/officeart/2005/8/layout/chevron2"/>
    <dgm:cxn modelId="{A1862105-68DE-4030-AA35-50E041D3DE60}" type="presParOf" srcId="{C0F585E9-729F-4836-B173-7ADDC105B62D}" destId="{965DD248-5882-4CB8-A37B-FE173AB1E9B1}" srcOrd="1" destOrd="0" presId="urn:microsoft.com/office/officeart/2005/8/layout/chevron2"/>
    <dgm:cxn modelId="{B8ACB750-5D30-4904-8593-3F72BA895946}" type="presParOf" srcId="{71518D83-6741-4EAD-8914-ADCDF64B317D}" destId="{BCFBDDC7-FC70-423C-82F3-B7C1D9ADBFBE}" srcOrd="3" destOrd="0" presId="urn:microsoft.com/office/officeart/2005/8/layout/chevron2"/>
    <dgm:cxn modelId="{E857A522-D855-46A3-91B1-E57D1DF0BFCC}" type="presParOf" srcId="{71518D83-6741-4EAD-8914-ADCDF64B317D}" destId="{3693C562-37C3-4A50-9667-1B0B1B52BAA2}" srcOrd="4" destOrd="0" presId="urn:microsoft.com/office/officeart/2005/8/layout/chevron2"/>
    <dgm:cxn modelId="{EA1A8195-12F0-490C-AD9D-A16A964BF1F6}" type="presParOf" srcId="{3693C562-37C3-4A50-9667-1B0B1B52BAA2}" destId="{3BB2A06E-4411-4316-BD56-D0975D3D3A73}" srcOrd="0" destOrd="0" presId="urn:microsoft.com/office/officeart/2005/8/layout/chevron2"/>
    <dgm:cxn modelId="{FAAD63B1-066E-4338-8B04-EC44E1BE0373}" type="presParOf" srcId="{3693C562-37C3-4A50-9667-1B0B1B52BAA2}" destId="{12646383-5F6E-46C0-AD8F-223FAEEBF2AC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BD4C50-FC73-4241-B9AE-865DD810FD60}">
      <dsp:nvSpPr>
        <dsp:cNvPr id="0" name=""/>
        <dsp:cNvSpPr/>
      </dsp:nvSpPr>
      <dsp:spPr>
        <a:xfrm rot="5400000">
          <a:off x="-243619" y="245654"/>
          <a:ext cx="1624131" cy="1136891"/>
        </a:xfrm>
        <a:prstGeom prst="chevron">
          <a:avLst/>
        </a:prstGeom>
        <a:solidFill>
          <a:srgbClr val="44546A"/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200" kern="1200" dirty="0"/>
            <a:t>#1</a:t>
          </a:r>
        </a:p>
      </dsp:txBody>
      <dsp:txXfrm rot="-5400000">
        <a:off x="2" y="570480"/>
        <a:ext cx="1136891" cy="487240"/>
      </dsp:txXfrm>
    </dsp:sp>
    <dsp:sp modelId="{102B6291-B122-4E42-82CC-EB6D3D54CF66}">
      <dsp:nvSpPr>
        <dsp:cNvPr id="0" name=""/>
        <dsp:cNvSpPr/>
      </dsp:nvSpPr>
      <dsp:spPr>
        <a:xfrm rot="5400000">
          <a:off x="3566720" y="-2427794"/>
          <a:ext cx="1055685" cy="5915343"/>
        </a:xfrm>
        <a:prstGeom prst="round2Same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4696" tIns="20955" rIns="20955" bIns="20955" numCol="1" spcCol="1270" anchor="ctr" anchorCtr="0">
          <a:noAutofit/>
        </a:bodyPr>
        <a:lstStyle/>
        <a:p>
          <a:pPr marL="285750" lvl="1" indent="-285750" algn="l" defTabSz="1466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3300" kern="1200" dirty="0"/>
            <a:t>Prétraitement des données</a:t>
          </a:r>
        </a:p>
      </dsp:txBody>
      <dsp:txXfrm rot="-5400000">
        <a:off x="1136891" y="53569"/>
        <a:ext cx="5863809" cy="952617"/>
      </dsp:txXfrm>
    </dsp:sp>
    <dsp:sp modelId="{144574FE-BE83-4D57-89C7-7421A44AE584}">
      <dsp:nvSpPr>
        <dsp:cNvPr id="0" name=""/>
        <dsp:cNvSpPr/>
      </dsp:nvSpPr>
      <dsp:spPr>
        <a:xfrm rot="5400000">
          <a:off x="-243619" y="1675967"/>
          <a:ext cx="1624131" cy="1136891"/>
        </a:xfrm>
        <a:prstGeom prst="chevron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200" kern="1200" dirty="0"/>
            <a:t>#2</a:t>
          </a:r>
        </a:p>
      </dsp:txBody>
      <dsp:txXfrm rot="-5400000">
        <a:off x="2" y="2000793"/>
        <a:ext cx="1136891" cy="487240"/>
      </dsp:txXfrm>
    </dsp:sp>
    <dsp:sp modelId="{965DD248-5882-4CB8-A37B-FE173AB1E9B1}">
      <dsp:nvSpPr>
        <dsp:cNvPr id="0" name=""/>
        <dsp:cNvSpPr/>
      </dsp:nvSpPr>
      <dsp:spPr>
        <a:xfrm rot="5400000">
          <a:off x="3566720" y="-997481"/>
          <a:ext cx="1055685" cy="5915343"/>
        </a:xfrm>
        <a:prstGeom prst="round2Same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4696" tIns="20955" rIns="20955" bIns="20955" numCol="1" spcCol="1270" anchor="ctr" anchorCtr="0">
          <a:noAutofit/>
        </a:bodyPr>
        <a:lstStyle/>
        <a:p>
          <a:pPr marL="285750" lvl="1" indent="-285750" algn="l" defTabSz="1466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3300" kern="1200" dirty="0"/>
            <a:t>Extraction des caractéristiques</a:t>
          </a:r>
        </a:p>
      </dsp:txBody>
      <dsp:txXfrm rot="-5400000">
        <a:off x="1136891" y="1483882"/>
        <a:ext cx="5863809" cy="952617"/>
      </dsp:txXfrm>
    </dsp:sp>
    <dsp:sp modelId="{3BB2A06E-4411-4316-BD56-D0975D3D3A73}">
      <dsp:nvSpPr>
        <dsp:cNvPr id="0" name=""/>
        <dsp:cNvSpPr/>
      </dsp:nvSpPr>
      <dsp:spPr>
        <a:xfrm rot="5400000">
          <a:off x="-243619" y="3106281"/>
          <a:ext cx="1624131" cy="1136891"/>
        </a:xfrm>
        <a:prstGeom prst="chevron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200" kern="1200" dirty="0"/>
            <a:t>#3</a:t>
          </a:r>
        </a:p>
      </dsp:txBody>
      <dsp:txXfrm rot="-5400000">
        <a:off x="2" y="3431107"/>
        <a:ext cx="1136891" cy="487240"/>
      </dsp:txXfrm>
    </dsp:sp>
    <dsp:sp modelId="{12646383-5F6E-46C0-AD8F-223FAEEBF2AC}">
      <dsp:nvSpPr>
        <dsp:cNvPr id="0" name=""/>
        <dsp:cNvSpPr/>
      </dsp:nvSpPr>
      <dsp:spPr>
        <a:xfrm rot="5400000">
          <a:off x="3566720" y="432832"/>
          <a:ext cx="1055685" cy="5915343"/>
        </a:xfrm>
        <a:prstGeom prst="round2Same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4696" tIns="20955" rIns="20955" bIns="20955" numCol="1" spcCol="1270" anchor="ctr" anchorCtr="0">
          <a:noAutofit/>
        </a:bodyPr>
        <a:lstStyle/>
        <a:p>
          <a:pPr marL="285750" lvl="1" indent="-285750" algn="l" defTabSz="1466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3300" kern="1200" dirty="0"/>
            <a:t>Construction du modèle</a:t>
          </a:r>
        </a:p>
      </dsp:txBody>
      <dsp:txXfrm rot="-5400000">
        <a:off x="1136891" y="2914195"/>
        <a:ext cx="5863809" cy="95261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18E1BD-7F8C-416A-8A7E-2EC2CA162FFF}" type="datetimeFigureOut">
              <a:rPr lang="fr-FR" smtClean="0"/>
              <a:t>06/07/2025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624C96-225B-4B05-A8F3-8A3CBDEF157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370308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182B672-22C1-43FF-840D-2BC3E42D88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29FF71D0-784D-4C04-8EBA-2EC2CC3017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6F26F65-F45D-4409-AEDA-9BC98E1CC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14C25-2C35-4EB7-B5A2-E7AD488AACE5}" type="datetime1">
              <a:rPr lang="fr-FR" smtClean="0"/>
              <a:t>06/07/2025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A79897A-F368-43DF-9165-527425CC5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5577FF3-057F-45CD-BEBA-87977D028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B3276-6F13-444F-83F4-2B672E3245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107642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BB08477-BB31-4A98-B895-8E8958F8D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5F42D24-9E70-4FF7-A0A0-BED4721736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464A9AA-F81B-44EE-8286-8656915D35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BECAA-905D-485A-B325-8275AE782AA0}" type="datetime1">
              <a:rPr lang="fr-FR" smtClean="0"/>
              <a:t>06/07/2025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A7378CF-79EC-4250-BE31-D7BE59DB0A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590044B-C344-4467-99E2-DE17F2F69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B3276-6F13-444F-83F4-2B672E3245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59635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3F77F3E-4A61-4D2E-8B92-A92AC2D7F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1104867-8EB5-4695-BC5D-EF7CEB915C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EBB8A59-43E0-4679-8C46-16D1009600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78486-4BBE-4D6D-9CCB-8E73C3450A37}" type="datetime1">
              <a:rPr lang="fr-FR" smtClean="0"/>
              <a:t>06/07/2025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9DA8B92-5169-43D8-9B6B-E378B590E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B159CC7-1AF9-4C97-BF9D-309FB47D6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B3276-6F13-444F-83F4-2B672E3245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229161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C92703A-347D-4948-A56D-9A4FE56DC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5FF843C-0C0A-4001-820B-ECA91D4E43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BC50032-F692-454B-B14B-F84DA64DAB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2E22396-3998-40F1-8B83-C912EB8A6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F4135-7DD9-435E-9C49-CA32C7815EBD}" type="datetime1">
              <a:rPr lang="fr-FR" smtClean="0"/>
              <a:t>06/07/2025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8D773E9-6530-49FA-B3BF-889FD9F91E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53AFF9D-D38A-4683-9FA5-227E8AADA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B3276-6F13-444F-83F4-2B672E3245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72034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07DA1DF-72C6-4B2E-A0C8-A91C362BE8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64267E7-90B2-4DFE-8068-C7C1483E37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1AA49A9-3981-4602-9784-09B2471D76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1AC24729-9931-4800-91E3-8BBCF25134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D50619C4-A1B1-497E-87E6-1F783D8B43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760368EF-FA59-49BF-89D1-CD24092AC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C9A3A-084A-4C7C-B469-51AB76715140}" type="datetime1">
              <a:rPr lang="fr-FR" smtClean="0"/>
              <a:t>06/07/2025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95E5776C-C6CF-4663-A5DE-380954180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A37750C0-9B22-4BE2-B1EA-456E79D2E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B3276-6F13-444F-83F4-2B672E3245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305768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027C02-1B10-44C8-B1C2-0EA2FEA580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3D62A923-614D-4DB1-98E1-D87A438DB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0A9B1-D6C9-43C9-BDB9-FB821DD04DC2}" type="datetime1">
              <a:rPr lang="fr-FR" smtClean="0"/>
              <a:t>06/07/2025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B33BC25-3401-4EC1-A353-D15411FD07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7EDD4E8-7B00-4108-8AFC-A7D785B17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B3276-6F13-444F-83F4-2B672E3245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782367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1097392B-EE48-40B5-B08E-C8C683550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0D9BF-61E7-41CF-A3D0-7B42BDCA1D18}" type="datetime1">
              <a:rPr lang="fr-FR" smtClean="0"/>
              <a:t>06/07/2025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B0885A59-8E10-4A7A-A96A-F670460449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52B7739-32BD-461B-B528-B5043705D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B3276-6F13-444F-83F4-2B672E3245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09409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D18E753-238A-4E79-AFF5-A45E0BC19D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FD7210E-7F8A-4345-B0F9-DD1DE8E043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6C89898-876D-4795-9EF8-AA88872E3C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3880CE9-F47C-44F1-B75F-2D6189C37F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308FA-2BE5-4A71-8AE8-C55528A19B3C}" type="datetime1">
              <a:rPr lang="fr-FR" smtClean="0"/>
              <a:t>06/07/2025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926F47F-5E50-4D5E-8CAF-05C65FC030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49B27A3-DB68-474C-BB26-E49E4C42E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B3276-6F13-444F-83F4-2B672E3245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986464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6BD107-70B7-4D95-8B80-140E85C959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7119CDB8-F63A-4077-A6DA-1130AE40FD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635BEBD-8CA9-49EE-AE14-864748D484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A3653F9-5EBA-465D-9C19-A193C27268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37E31-7FC2-48D0-9480-BA8A6DEFFF50}" type="datetime1">
              <a:rPr lang="fr-FR" smtClean="0"/>
              <a:t>06/07/2025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C596BF9-417B-4627-BBD2-59D694DFB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98A5D25-B40F-43D1-85B0-B9E079FEF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B3276-6F13-444F-83F4-2B672E3245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574775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91FDD4C-3C12-48E1-8CD2-C24024A755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E1835BF-E5B8-4370-87C7-B044C22F0A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D72867E-0039-4E16-8593-A17474F81F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CC44B-D645-4BA8-9551-96B7B74F8764}" type="datetime1">
              <a:rPr lang="fr-FR" smtClean="0"/>
              <a:t>06/07/2025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EC0EE0A-82FB-4CB6-B3B0-AEE847CDD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C632EB2-B23D-4E39-B0C0-1CF801753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B3276-6F13-444F-83F4-2B672E3245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799214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C19D8025-B572-4638-9457-789541BE82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0B7764B-CE60-4119-8DF5-980569CB25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3D410F3-C688-495B-A228-6D31A3C80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D104C-CC0C-4545-B547-A59C039B2E7A}" type="datetime1">
              <a:rPr lang="fr-FR" smtClean="0"/>
              <a:t>06/07/2025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56AA4C5-6FAD-4AC8-8F7C-2EED7CA85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CE92722-4476-448C-9936-439C42E89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B3276-6F13-444F-83F4-2B672E3245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976469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E0533E70-DF7D-420E-8DA5-F7F69221B7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46C5C89-8F34-480B-9A0A-783291C2D6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5653675-848D-4CA4-83F1-00D278116F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935E81-D37D-49CF-89A6-730776DC0A35}" type="datetime1">
              <a:rPr lang="fr-FR" smtClean="0"/>
              <a:t>06/07/2025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A489F4E-1FCC-4165-83E1-C077E393FF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B23AFB5-E855-4E3A-A133-D383C84FA9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8B3276-6F13-444F-83F4-2B672E3245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643957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186/s40779-023-00502-7" TargetMode="External"/><Relationship Id="rId7" Type="http://schemas.openxmlformats.org/officeDocument/2006/relationships/hyperlink" Target="https://www.ijert.org/research/electroencephalogram-eeg-its-processing-and-feature-extraction-IJERTV9IS060814.pdf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hyperlink" Target="https://doi.org/10.3389/frai.2022.1072801" TargetMode="Externa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6C28C49-2E85-4C6C-B639-B64FBB2DFE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13012"/>
            <a:ext cx="9144000" cy="3844085"/>
          </a:xfrm>
        </p:spPr>
        <p:txBody>
          <a:bodyPr>
            <a:normAutofit fontScale="90000"/>
          </a:bodyPr>
          <a:lstStyle/>
          <a:p>
            <a:r>
              <a:rPr lang="fr-F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Analyse de signaux neurophysiologiques dans le Trouble du Comportement en Sommeil</a:t>
            </a:r>
            <a:br>
              <a:rPr lang="fr-F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fr-F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Paradoxal (TCSP)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72F0BD55-06BB-4744-A1CB-BD5BF841A3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7905" y="5979459"/>
            <a:ext cx="4320989" cy="627526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fr-FR" sz="1800" i="1" dirty="0"/>
              <a:t>Par Darryl Dessalines</a:t>
            </a:r>
          </a:p>
          <a:p>
            <a:pPr algn="l"/>
            <a:r>
              <a:rPr lang="fr-FR" sz="1800" i="1" u="sng" dirty="0"/>
              <a:t>Encadré par </a:t>
            </a:r>
            <a:r>
              <a:rPr lang="fr-FR" sz="1800" i="1" dirty="0"/>
              <a:t>: Jonathan </a:t>
            </a:r>
            <a:r>
              <a:rPr lang="fr-FR" sz="1800" i="1" dirty="0" err="1"/>
              <a:t>Curot</a:t>
            </a:r>
            <a:r>
              <a:rPr lang="fr-FR" sz="1800" i="1" dirty="0"/>
              <a:t> et </a:t>
            </a:r>
            <a:r>
              <a:rPr lang="fr-FR" sz="1800" i="1" dirty="0" err="1"/>
              <a:t>Siwar</a:t>
            </a:r>
            <a:r>
              <a:rPr lang="fr-FR" sz="1800" i="1" dirty="0"/>
              <a:t> </a:t>
            </a:r>
            <a:r>
              <a:rPr lang="fr-FR" sz="1800" i="1" dirty="0" err="1"/>
              <a:t>Bouden</a:t>
            </a:r>
            <a:endParaRPr lang="fr-FR" sz="1800" i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7FA69AA-F7CF-49D7-802E-4C0ED1D8F6A8}"/>
              </a:ext>
            </a:extLst>
          </p:cNvPr>
          <p:cNvSpPr/>
          <p:nvPr/>
        </p:nvSpPr>
        <p:spPr>
          <a:xfrm>
            <a:off x="9367644" y="6352143"/>
            <a:ext cx="13003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i="1" dirty="0"/>
              <a:t>07/07/2025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46144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DD91174-9EA7-43B8-96B2-DCB704EEF48B}"/>
              </a:ext>
            </a:extLst>
          </p:cNvPr>
          <p:cNvSpPr/>
          <p:nvPr/>
        </p:nvSpPr>
        <p:spPr>
          <a:xfrm>
            <a:off x="0" y="463740"/>
            <a:ext cx="12192000" cy="117680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7D0B250-A1C3-4CD5-AE67-50C836585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Contexte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184D5B3-CE1B-4B85-A512-546FDEFFE9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38362"/>
            <a:ext cx="10515600" cy="4351338"/>
          </a:xfrm>
        </p:spPr>
        <p:txBody>
          <a:bodyPr/>
          <a:lstStyle/>
          <a:p>
            <a:r>
              <a:rPr lang="fr-FR" dirty="0"/>
              <a:t>Le stage porte sur le Trouble du Comportement en Sommeil Paradoxal (TCSP)</a:t>
            </a:r>
          </a:p>
          <a:p>
            <a:endParaRPr lang="fr-FR" dirty="0"/>
          </a:p>
          <a:p>
            <a:r>
              <a:rPr lang="fr-FR" dirty="0"/>
              <a:t>Le sommeil paradoxal (REM) est une phase de sommeil associée aux rêves, où le corps est normalement paralysé</a:t>
            </a:r>
          </a:p>
          <a:p>
            <a:endParaRPr lang="fr-FR" dirty="0"/>
          </a:p>
          <a:p>
            <a:r>
              <a:rPr lang="fr-FR" dirty="0"/>
              <a:t>Chez les patients atteints de TCSP, cette paralysie est absente : ils miment les gestes de leurs rêves, parfois violemment.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9AFFFB4-018B-4FDB-B252-7713031CF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B3276-6F13-444F-83F4-2B672E324500}" type="slidenum">
              <a:rPr lang="fr-FR" smtClean="0"/>
              <a:t>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382126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DD91174-9EA7-43B8-96B2-DCB704EEF48B}"/>
              </a:ext>
            </a:extLst>
          </p:cNvPr>
          <p:cNvSpPr/>
          <p:nvPr/>
        </p:nvSpPr>
        <p:spPr>
          <a:xfrm>
            <a:off x="0" y="463740"/>
            <a:ext cx="12192000" cy="117680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7D0B250-A1C3-4CD5-AE67-50C836585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Contexte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184D5B3-CE1B-4B85-A512-546FDEFFE9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789303"/>
            <a:ext cx="11004176" cy="5142296"/>
          </a:xfrm>
        </p:spPr>
        <p:txBody>
          <a:bodyPr>
            <a:noAutofit/>
          </a:bodyPr>
          <a:lstStyle/>
          <a:p>
            <a:r>
              <a:rPr lang="fr-FR" dirty="0"/>
              <a:t>TCSP = marqueur précoce de maladie </a:t>
            </a:r>
            <a:r>
              <a:rPr lang="fr-FR" dirty="0" err="1"/>
              <a:t>neurodégénratives</a:t>
            </a:r>
            <a:r>
              <a:rPr lang="fr-FR" dirty="0"/>
              <a:t>, notamment de la m</a:t>
            </a:r>
            <a:r>
              <a:rPr lang="fr-FR" sz="2800" dirty="0"/>
              <a:t>aladie de Parkinson, démence à corps de Lewy (DCL) et atrophie </a:t>
            </a:r>
            <a:r>
              <a:rPr lang="fr-FR" sz="2800" dirty="0" err="1"/>
              <a:t>Multisystématisée</a:t>
            </a:r>
            <a:r>
              <a:rPr lang="fr-FR" sz="2800" dirty="0"/>
              <a:t> (AMS) </a:t>
            </a:r>
            <a:r>
              <a:rPr lang="fr-FR" sz="2800" dirty="0">
                <a:sym typeface="Wingdings" panose="05000000000000000000" pitchFamily="2" charset="2"/>
              </a:rPr>
              <a:t> alpha-</a:t>
            </a:r>
            <a:r>
              <a:rPr lang="fr-FR" sz="2800" dirty="0" err="1">
                <a:sym typeface="Wingdings" panose="05000000000000000000" pitchFamily="2" charset="2"/>
              </a:rPr>
              <a:t>synucléinopathies</a:t>
            </a:r>
            <a:endParaRPr lang="fr-FR" sz="2800" dirty="0"/>
          </a:p>
          <a:p>
            <a:endParaRPr lang="fr-FR" dirty="0"/>
          </a:p>
          <a:p>
            <a:r>
              <a:rPr lang="fr-FR" dirty="0"/>
              <a:t>Il existe aussi des formes idiopathiques du TCSP (sans cause identifiée immédiate)</a:t>
            </a:r>
          </a:p>
          <a:p>
            <a:endParaRPr lang="fr-FR" dirty="0"/>
          </a:p>
          <a:p>
            <a:r>
              <a:rPr lang="fr-FR" dirty="0"/>
              <a:t>90% des patients avec un TCSP idiopathique développeront une </a:t>
            </a:r>
            <a:r>
              <a:rPr lang="fr-FR" dirty="0" err="1"/>
              <a:t>synucléinopathie</a:t>
            </a:r>
            <a:r>
              <a:rPr lang="fr-FR" dirty="0"/>
              <a:t> dans les 15 ans suivant leur diagnostique. </a:t>
            </a:r>
          </a:p>
          <a:p>
            <a:endParaRPr lang="fr-FR" dirty="0"/>
          </a:p>
          <a:p>
            <a:r>
              <a:rPr lang="fr-FR" dirty="0"/>
              <a:t>Cela en fait un biomarqueur prédictif majeur de ces maladies.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9AFFFB4-018B-4FDB-B252-7713031CF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B3276-6F13-444F-83F4-2B672E324500}" type="slidenum">
              <a:rPr lang="fr-FR" smtClean="0"/>
              <a:t>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608976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1E44C58-2DE7-4677-ABF9-DF365AAAF092}"/>
              </a:ext>
            </a:extLst>
          </p:cNvPr>
          <p:cNvSpPr/>
          <p:nvPr/>
        </p:nvSpPr>
        <p:spPr>
          <a:xfrm>
            <a:off x="0" y="463740"/>
            <a:ext cx="12192000" cy="117680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CF97B7B-C80F-4E5F-B6B8-59A50EC34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Problématique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D701108-8BB4-40D0-9655-EC730E6E21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18685"/>
            <a:ext cx="10515600" cy="3203575"/>
          </a:xfrm>
        </p:spPr>
        <p:txBody>
          <a:bodyPr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fr-FR" b="1" dirty="0"/>
              <a:t>Comment caractériser les spécificités de l’activité cérébrale durant le sommeil paradoxal (REM) à partir de signaux </a:t>
            </a:r>
            <a:r>
              <a:rPr lang="fr-FR" b="1" dirty="0" err="1"/>
              <a:t>EEGs</a:t>
            </a:r>
            <a:r>
              <a:rPr lang="fr-FR" b="1" dirty="0"/>
              <a:t> afin d’identifier des biomarqueurs potentiels de pathologies du sommeil comme les </a:t>
            </a:r>
            <a:r>
              <a:rPr lang="fr-FR" b="1" dirty="0" err="1"/>
              <a:t>synucléinopathies</a:t>
            </a:r>
            <a:r>
              <a:rPr lang="fr-FR" b="1" dirty="0"/>
              <a:t> ou la narcolepsie? 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E3064D5-C514-4EA2-A406-1C72248F3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B3276-6F13-444F-83F4-2B672E324500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627304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DCE40CE-4970-414B-B7E9-0C5C06CC03E1}"/>
              </a:ext>
            </a:extLst>
          </p:cNvPr>
          <p:cNvSpPr/>
          <p:nvPr/>
        </p:nvSpPr>
        <p:spPr>
          <a:xfrm>
            <a:off x="0" y="463740"/>
            <a:ext cx="12192000" cy="117680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F3121B3-61B9-4718-9F4D-54478DC2D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Choix du modèle</a:t>
            </a:r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9B6B8C30-EDAF-4758-8577-E7CFBD378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B3276-6F13-444F-83F4-2B672E324500}" type="slidenum">
              <a:rPr lang="fr-FR" smtClean="0"/>
              <a:t>5</a:t>
            </a:fld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5013164-05CA-42F3-AD3E-A23DC8A205AC}"/>
              </a:ext>
            </a:extLst>
          </p:cNvPr>
          <p:cNvSpPr/>
          <p:nvPr/>
        </p:nvSpPr>
        <p:spPr>
          <a:xfrm>
            <a:off x="1192306" y="2142565"/>
            <a:ext cx="4276165" cy="4350310"/>
          </a:xfrm>
          <a:prstGeom prst="rect">
            <a:avLst/>
          </a:prstGeom>
          <a:solidFill>
            <a:srgbClr val="44546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D1DC612-CE72-436C-B6EF-DD8A68B277B5}"/>
              </a:ext>
            </a:extLst>
          </p:cNvPr>
          <p:cNvSpPr/>
          <p:nvPr/>
        </p:nvSpPr>
        <p:spPr>
          <a:xfrm>
            <a:off x="6197598" y="2142565"/>
            <a:ext cx="4276165" cy="435031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9D42A2A-0F23-438B-B9F9-FEBDB728774E}"/>
              </a:ext>
            </a:extLst>
          </p:cNvPr>
          <p:cNvSpPr/>
          <p:nvPr/>
        </p:nvSpPr>
        <p:spPr>
          <a:xfrm>
            <a:off x="1668837" y="2239703"/>
            <a:ext cx="361829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800" b="1" u="sng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Machine Learning (ML)</a:t>
            </a:r>
            <a:endParaRPr lang="fr-FR" b="1" u="sng" dirty="0">
              <a:ln w="0"/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5CAF3B3-AC97-4D56-BAAA-C50A04383D9D}"/>
              </a:ext>
            </a:extLst>
          </p:cNvPr>
          <p:cNvSpPr/>
          <p:nvPr/>
        </p:nvSpPr>
        <p:spPr>
          <a:xfrm>
            <a:off x="7994970" y="2219013"/>
            <a:ext cx="68142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2800" dirty="0">
                <a:solidFill>
                  <a:schemeClr val="bg1"/>
                </a:solidFill>
              </a:rPr>
              <a:t>+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23F95AC-56A1-4CE8-9D24-4374C671E2F3}"/>
              </a:ext>
            </a:extLst>
          </p:cNvPr>
          <p:cNvSpPr/>
          <p:nvPr/>
        </p:nvSpPr>
        <p:spPr>
          <a:xfrm>
            <a:off x="1568175" y="3426957"/>
            <a:ext cx="352442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</a:rPr>
              <a:t>Extraction des </a:t>
            </a:r>
            <a:r>
              <a:rPr lang="fr-FR" sz="2800" dirty="0" err="1">
                <a:solidFill>
                  <a:schemeClr val="bg1"/>
                </a:solidFill>
              </a:rPr>
              <a:t>features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94708C6-F774-45D9-890D-6828F3438D2C}"/>
              </a:ext>
            </a:extLst>
          </p:cNvPr>
          <p:cNvSpPr/>
          <p:nvPr/>
        </p:nvSpPr>
        <p:spPr>
          <a:xfrm>
            <a:off x="1568175" y="4824707"/>
            <a:ext cx="3524426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2800" dirty="0">
                <a:solidFill>
                  <a:schemeClr val="bg1"/>
                </a:solidFill>
              </a:rPr>
              <a:t>Model d’apprentissage supervisé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18" name="Flèche : bas 17">
            <a:extLst>
              <a:ext uri="{FF2B5EF4-FFF2-40B4-BE49-F238E27FC236}">
                <a16:creationId xmlns:a16="http://schemas.microsoft.com/office/drawing/2014/main" id="{798C00F4-2A51-4D70-90EB-8D13EDEF964F}"/>
              </a:ext>
            </a:extLst>
          </p:cNvPr>
          <p:cNvSpPr/>
          <p:nvPr/>
        </p:nvSpPr>
        <p:spPr>
          <a:xfrm>
            <a:off x="3230880" y="4110646"/>
            <a:ext cx="274320" cy="714061"/>
          </a:xfrm>
          <a:prstGeom prst="down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8E892DC-63F5-421E-A670-333726FAC73B}"/>
              </a:ext>
            </a:extLst>
          </p:cNvPr>
          <p:cNvSpPr/>
          <p:nvPr/>
        </p:nvSpPr>
        <p:spPr>
          <a:xfrm>
            <a:off x="6211007" y="2818681"/>
            <a:ext cx="4413051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2800" dirty="0">
                <a:solidFill>
                  <a:srgbClr val="C00000"/>
                </a:solidFill>
              </a:rPr>
              <a:t>Efficace avec peu de données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2800" dirty="0">
                <a:solidFill>
                  <a:schemeClr val="bg1"/>
                </a:solidFill>
              </a:rPr>
              <a:t>Meilleure interprétabilité (on sait quelle </a:t>
            </a:r>
            <a:r>
              <a:rPr lang="fr-FR" sz="2800" dirty="0" err="1">
                <a:solidFill>
                  <a:schemeClr val="bg1"/>
                </a:solidFill>
              </a:rPr>
              <a:t>feature</a:t>
            </a:r>
            <a:r>
              <a:rPr lang="fr-FR" sz="2800" dirty="0">
                <a:solidFill>
                  <a:schemeClr val="bg1"/>
                </a:solidFill>
              </a:rPr>
              <a:t> influence la prédiction)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2800" dirty="0">
                <a:solidFill>
                  <a:schemeClr val="bg1"/>
                </a:solidFill>
              </a:rPr>
              <a:t>Facile à entrainer, rapide, peu gourmand en ressources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E4162587-64F1-44E6-A717-C445C99493DA}"/>
              </a:ext>
            </a:extLst>
          </p:cNvPr>
          <p:cNvSpPr/>
          <p:nvPr/>
        </p:nvSpPr>
        <p:spPr>
          <a:xfrm>
            <a:off x="8091364" y="2257166"/>
            <a:ext cx="488630" cy="485067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n>
                <a:solidFill>
                  <a:schemeClr val="bg1"/>
                </a:solidFill>
              </a:ln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30101390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DCE40CE-4970-414B-B7E9-0C5C06CC03E1}"/>
              </a:ext>
            </a:extLst>
          </p:cNvPr>
          <p:cNvSpPr/>
          <p:nvPr/>
        </p:nvSpPr>
        <p:spPr>
          <a:xfrm>
            <a:off x="0" y="463740"/>
            <a:ext cx="12192000" cy="117680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9B6B8C30-EDAF-4758-8577-E7CFBD378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B3276-6F13-444F-83F4-2B672E324500}" type="slidenum">
              <a:rPr lang="fr-FR" smtClean="0"/>
              <a:t>6</a:t>
            </a:fld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5013164-05CA-42F3-AD3E-A23DC8A205AC}"/>
              </a:ext>
            </a:extLst>
          </p:cNvPr>
          <p:cNvSpPr/>
          <p:nvPr/>
        </p:nvSpPr>
        <p:spPr>
          <a:xfrm>
            <a:off x="1192306" y="2142565"/>
            <a:ext cx="4276165" cy="4350310"/>
          </a:xfrm>
          <a:prstGeom prst="rect">
            <a:avLst/>
          </a:prstGeom>
          <a:solidFill>
            <a:srgbClr val="44546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D1DC612-CE72-436C-B6EF-DD8A68B277B5}"/>
              </a:ext>
            </a:extLst>
          </p:cNvPr>
          <p:cNvSpPr/>
          <p:nvPr/>
        </p:nvSpPr>
        <p:spPr>
          <a:xfrm>
            <a:off x="6197598" y="2142565"/>
            <a:ext cx="4276165" cy="435031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5CAF3B3-AC97-4D56-BAAA-C50A04383D9D}"/>
              </a:ext>
            </a:extLst>
          </p:cNvPr>
          <p:cNvSpPr/>
          <p:nvPr/>
        </p:nvSpPr>
        <p:spPr>
          <a:xfrm>
            <a:off x="7994970" y="2219013"/>
            <a:ext cx="68142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2800" dirty="0">
                <a:solidFill>
                  <a:schemeClr val="bg1"/>
                </a:solidFill>
              </a:rPr>
              <a:t>-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23F95AC-56A1-4CE8-9D24-4374C671E2F3}"/>
              </a:ext>
            </a:extLst>
          </p:cNvPr>
          <p:cNvSpPr/>
          <p:nvPr/>
        </p:nvSpPr>
        <p:spPr>
          <a:xfrm>
            <a:off x="1568175" y="3426957"/>
            <a:ext cx="352442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</a:rPr>
              <a:t>Extraction des </a:t>
            </a:r>
            <a:r>
              <a:rPr lang="fr-FR" sz="2800" dirty="0" err="1">
                <a:solidFill>
                  <a:schemeClr val="bg1"/>
                </a:solidFill>
              </a:rPr>
              <a:t>features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94708C6-F774-45D9-890D-6828F3438D2C}"/>
              </a:ext>
            </a:extLst>
          </p:cNvPr>
          <p:cNvSpPr/>
          <p:nvPr/>
        </p:nvSpPr>
        <p:spPr>
          <a:xfrm>
            <a:off x="1568175" y="4824707"/>
            <a:ext cx="3524426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2800" dirty="0">
                <a:solidFill>
                  <a:schemeClr val="bg1"/>
                </a:solidFill>
              </a:rPr>
              <a:t>Model d’apprentissage supervisé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18" name="Flèche : bas 17">
            <a:extLst>
              <a:ext uri="{FF2B5EF4-FFF2-40B4-BE49-F238E27FC236}">
                <a16:creationId xmlns:a16="http://schemas.microsoft.com/office/drawing/2014/main" id="{798C00F4-2A51-4D70-90EB-8D13EDEF964F}"/>
              </a:ext>
            </a:extLst>
          </p:cNvPr>
          <p:cNvSpPr/>
          <p:nvPr/>
        </p:nvSpPr>
        <p:spPr>
          <a:xfrm>
            <a:off x="3230880" y="4110646"/>
            <a:ext cx="274320" cy="714061"/>
          </a:xfrm>
          <a:prstGeom prst="down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8E892DC-63F5-421E-A670-333726FAC73B}"/>
              </a:ext>
            </a:extLst>
          </p:cNvPr>
          <p:cNvSpPr/>
          <p:nvPr/>
        </p:nvSpPr>
        <p:spPr>
          <a:xfrm>
            <a:off x="6129154" y="2818681"/>
            <a:ext cx="4413051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2800" dirty="0">
                <a:solidFill>
                  <a:schemeClr val="bg1"/>
                </a:solidFill>
              </a:rPr>
              <a:t>Performances du modèle fortement dépendantes de la qualité des </a:t>
            </a:r>
            <a:r>
              <a:rPr lang="fr-FR" sz="2800" dirty="0" err="1">
                <a:solidFill>
                  <a:schemeClr val="bg1"/>
                </a:solidFill>
              </a:rPr>
              <a:t>features</a:t>
            </a:r>
            <a:endParaRPr lang="fr-FR" sz="2800" dirty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fr-FR" sz="2800" dirty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2800" dirty="0">
                <a:solidFill>
                  <a:srgbClr val="C00000"/>
                </a:solidFill>
              </a:rPr>
              <a:t>Modèle moins performant si les patterns sont très complexes ou non-linéaires</a:t>
            </a:r>
            <a:endParaRPr lang="fr-FR" dirty="0">
              <a:solidFill>
                <a:srgbClr val="C00000"/>
              </a:solidFill>
            </a:endParaRPr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86A16782-1CB9-4E2E-92AB-4B2BB9C8465E}"/>
              </a:ext>
            </a:extLst>
          </p:cNvPr>
          <p:cNvSpPr/>
          <p:nvPr/>
        </p:nvSpPr>
        <p:spPr>
          <a:xfrm>
            <a:off x="8091364" y="2257166"/>
            <a:ext cx="488630" cy="485067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n>
                <a:solidFill>
                  <a:schemeClr val="bg1"/>
                </a:solidFill>
              </a:ln>
              <a:noFill/>
            </a:endParaRPr>
          </a:p>
        </p:txBody>
      </p:sp>
      <p:sp>
        <p:nvSpPr>
          <p:cNvPr id="22" name="Titre 1">
            <a:extLst>
              <a:ext uri="{FF2B5EF4-FFF2-40B4-BE49-F238E27FC236}">
                <a16:creationId xmlns:a16="http://schemas.microsoft.com/office/drawing/2014/main" id="{2118DD38-AB3C-4636-A946-ACCBA07B3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Choix du modèle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6CEF35B-7B00-4688-8696-D426E3AC37A7}"/>
              </a:ext>
            </a:extLst>
          </p:cNvPr>
          <p:cNvSpPr/>
          <p:nvPr/>
        </p:nvSpPr>
        <p:spPr>
          <a:xfrm>
            <a:off x="1668837" y="2239703"/>
            <a:ext cx="361829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800" b="1" u="sng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Machine Learning (ML)</a:t>
            </a:r>
            <a:endParaRPr lang="fr-FR" b="1" u="sng" dirty="0">
              <a:ln w="0"/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5741059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DCE40CE-4970-414B-B7E9-0C5C06CC03E1}"/>
              </a:ext>
            </a:extLst>
          </p:cNvPr>
          <p:cNvSpPr/>
          <p:nvPr/>
        </p:nvSpPr>
        <p:spPr>
          <a:xfrm>
            <a:off x="0" y="463740"/>
            <a:ext cx="12192000" cy="117680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9B6B8C30-EDAF-4758-8577-E7CFBD378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B3276-6F13-444F-83F4-2B672E324500}" type="slidenum">
              <a:rPr lang="fr-FR" smtClean="0"/>
              <a:t>7</a:t>
            </a:fld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5013164-05CA-42F3-AD3E-A23DC8A205AC}"/>
              </a:ext>
            </a:extLst>
          </p:cNvPr>
          <p:cNvSpPr/>
          <p:nvPr/>
        </p:nvSpPr>
        <p:spPr>
          <a:xfrm>
            <a:off x="1192306" y="2142565"/>
            <a:ext cx="4276165" cy="4350310"/>
          </a:xfrm>
          <a:prstGeom prst="rect">
            <a:avLst/>
          </a:prstGeom>
          <a:solidFill>
            <a:srgbClr val="44546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D1DC612-CE72-436C-B6EF-DD8A68B277B5}"/>
              </a:ext>
            </a:extLst>
          </p:cNvPr>
          <p:cNvSpPr/>
          <p:nvPr/>
        </p:nvSpPr>
        <p:spPr>
          <a:xfrm>
            <a:off x="6197598" y="2142565"/>
            <a:ext cx="4276165" cy="435031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9D42A2A-0F23-438B-B9F9-FEBDB728774E}"/>
              </a:ext>
            </a:extLst>
          </p:cNvPr>
          <p:cNvSpPr/>
          <p:nvPr/>
        </p:nvSpPr>
        <p:spPr>
          <a:xfrm>
            <a:off x="1892334" y="2318443"/>
            <a:ext cx="287610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800" u="sng" dirty="0" err="1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DeepLearning</a:t>
            </a:r>
            <a:r>
              <a:rPr lang="fr-FR" sz="2800" u="sng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(DL)</a:t>
            </a:r>
            <a:endParaRPr lang="fr-FR" u="sng" dirty="0">
              <a:ln w="0"/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23F95AC-56A1-4CE8-9D24-4374C671E2F3}"/>
              </a:ext>
            </a:extLst>
          </p:cNvPr>
          <p:cNvSpPr/>
          <p:nvPr/>
        </p:nvSpPr>
        <p:spPr>
          <a:xfrm>
            <a:off x="1567942" y="3540760"/>
            <a:ext cx="3826785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</a:rPr>
              <a:t>Le modèle apprends directement à partir du signal brute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487B1DC-705F-4AC5-97BD-AC64C4568824}"/>
              </a:ext>
            </a:extLst>
          </p:cNvPr>
          <p:cNvSpPr/>
          <p:nvPr/>
        </p:nvSpPr>
        <p:spPr>
          <a:xfrm>
            <a:off x="7994970" y="2219013"/>
            <a:ext cx="68142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2800" dirty="0">
                <a:solidFill>
                  <a:schemeClr val="bg1"/>
                </a:solidFill>
              </a:rPr>
              <a:t>+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9E8CC51C-3E92-4628-92BE-FF26CAC9936F}"/>
              </a:ext>
            </a:extLst>
          </p:cNvPr>
          <p:cNvSpPr/>
          <p:nvPr/>
        </p:nvSpPr>
        <p:spPr>
          <a:xfrm>
            <a:off x="8091364" y="2257166"/>
            <a:ext cx="488630" cy="485067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n>
                <a:solidFill>
                  <a:schemeClr val="bg1"/>
                </a:solidFill>
              </a:ln>
              <a:noFill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5C1A33E-15EE-4977-8393-84ECBB90EB11}"/>
              </a:ext>
            </a:extLst>
          </p:cNvPr>
          <p:cNvSpPr/>
          <p:nvPr/>
        </p:nvSpPr>
        <p:spPr>
          <a:xfrm>
            <a:off x="6180527" y="2981241"/>
            <a:ext cx="4413051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2800" dirty="0">
                <a:solidFill>
                  <a:srgbClr val="C00000"/>
                </a:solidFill>
              </a:rPr>
              <a:t>Peut capturer des patterns complexe et subtils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2800" dirty="0">
                <a:solidFill>
                  <a:srgbClr val="C00000"/>
                </a:solidFill>
              </a:rPr>
              <a:t>Adaptés à des signaux temporels non-linéaires (EEG like)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2800" dirty="0">
                <a:solidFill>
                  <a:schemeClr val="bg1"/>
                </a:solidFill>
              </a:rPr>
              <a:t>Apprentissage de bout-en bout 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22" name="Titre 1">
            <a:extLst>
              <a:ext uri="{FF2B5EF4-FFF2-40B4-BE49-F238E27FC236}">
                <a16:creationId xmlns:a16="http://schemas.microsoft.com/office/drawing/2014/main" id="{D7FBC9EC-0475-4AA5-A3EB-93C64A3447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Choix du modèle</a:t>
            </a:r>
          </a:p>
        </p:txBody>
      </p:sp>
    </p:spTree>
    <p:extLst>
      <p:ext uri="{BB962C8B-B14F-4D97-AF65-F5344CB8AC3E}">
        <p14:creationId xmlns:p14="http://schemas.microsoft.com/office/powerpoint/2010/main" val="27366014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DCE40CE-4970-414B-B7E9-0C5C06CC03E1}"/>
              </a:ext>
            </a:extLst>
          </p:cNvPr>
          <p:cNvSpPr/>
          <p:nvPr/>
        </p:nvSpPr>
        <p:spPr>
          <a:xfrm>
            <a:off x="0" y="463740"/>
            <a:ext cx="12192000" cy="117680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9B6B8C30-EDAF-4758-8577-E7CFBD378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B3276-6F13-444F-83F4-2B672E324500}" type="slidenum">
              <a:rPr lang="fr-FR" smtClean="0"/>
              <a:t>8</a:t>
            </a:fld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5013164-05CA-42F3-AD3E-A23DC8A205AC}"/>
              </a:ext>
            </a:extLst>
          </p:cNvPr>
          <p:cNvSpPr/>
          <p:nvPr/>
        </p:nvSpPr>
        <p:spPr>
          <a:xfrm>
            <a:off x="1192306" y="2142565"/>
            <a:ext cx="4276165" cy="4350310"/>
          </a:xfrm>
          <a:prstGeom prst="rect">
            <a:avLst/>
          </a:prstGeom>
          <a:solidFill>
            <a:srgbClr val="44546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D1DC612-CE72-436C-B6EF-DD8A68B277B5}"/>
              </a:ext>
            </a:extLst>
          </p:cNvPr>
          <p:cNvSpPr/>
          <p:nvPr/>
        </p:nvSpPr>
        <p:spPr>
          <a:xfrm>
            <a:off x="6197598" y="2142565"/>
            <a:ext cx="4276165" cy="435031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23F95AC-56A1-4CE8-9D24-4374C671E2F3}"/>
              </a:ext>
            </a:extLst>
          </p:cNvPr>
          <p:cNvSpPr/>
          <p:nvPr/>
        </p:nvSpPr>
        <p:spPr>
          <a:xfrm>
            <a:off x="1567942" y="3540760"/>
            <a:ext cx="3826785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</a:rPr>
              <a:t>Le modèle apprends directement à partir du signal brute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487B1DC-705F-4AC5-97BD-AC64C4568824}"/>
              </a:ext>
            </a:extLst>
          </p:cNvPr>
          <p:cNvSpPr/>
          <p:nvPr/>
        </p:nvSpPr>
        <p:spPr>
          <a:xfrm>
            <a:off x="7994970" y="2219013"/>
            <a:ext cx="68142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2800" dirty="0">
                <a:solidFill>
                  <a:schemeClr val="bg1"/>
                </a:solidFill>
              </a:rPr>
              <a:t>-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9E8CC51C-3E92-4628-92BE-FF26CAC9936F}"/>
              </a:ext>
            </a:extLst>
          </p:cNvPr>
          <p:cNvSpPr/>
          <p:nvPr/>
        </p:nvSpPr>
        <p:spPr>
          <a:xfrm>
            <a:off x="8091364" y="2257166"/>
            <a:ext cx="488630" cy="485067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n>
                <a:solidFill>
                  <a:schemeClr val="bg1"/>
                </a:solidFill>
              </a:ln>
              <a:noFill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5C1A33E-15EE-4977-8393-84ECBB90EB11}"/>
              </a:ext>
            </a:extLst>
          </p:cNvPr>
          <p:cNvSpPr/>
          <p:nvPr/>
        </p:nvSpPr>
        <p:spPr>
          <a:xfrm>
            <a:off x="6211007" y="2981241"/>
            <a:ext cx="4413051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2800" dirty="0">
                <a:solidFill>
                  <a:srgbClr val="C00000"/>
                </a:solidFill>
              </a:rPr>
              <a:t>Nécessite beaucoup plus de données pour généraliser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2800" dirty="0">
                <a:solidFill>
                  <a:schemeClr val="bg1"/>
                </a:solidFill>
              </a:rPr>
              <a:t>Plus long à entrainer + effet boite-noire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2800" dirty="0">
                <a:solidFill>
                  <a:srgbClr val="C00000"/>
                </a:solidFill>
              </a:rPr>
              <a:t>Moins robuste si peu de patients (risque </a:t>
            </a:r>
            <a:r>
              <a:rPr lang="fr-FR" sz="2800" dirty="0" err="1">
                <a:solidFill>
                  <a:srgbClr val="C00000"/>
                </a:solidFill>
              </a:rPr>
              <a:t>overfitting</a:t>
            </a:r>
            <a:r>
              <a:rPr lang="fr-FR" sz="2800" dirty="0">
                <a:solidFill>
                  <a:srgbClr val="C00000"/>
                </a:solidFill>
              </a:rPr>
              <a:t>)</a:t>
            </a:r>
            <a:endParaRPr lang="fr-FR" dirty="0">
              <a:solidFill>
                <a:srgbClr val="C00000"/>
              </a:solidFill>
            </a:endParaRPr>
          </a:p>
        </p:txBody>
      </p:sp>
      <p:sp>
        <p:nvSpPr>
          <p:cNvPr id="15" name="Titre 1">
            <a:extLst>
              <a:ext uri="{FF2B5EF4-FFF2-40B4-BE49-F238E27FC236}">
                <a16:creationId xmlns:a16="http://schemas.microsoft.com/office/drawing/2014/main" id="{EBA077E8-D5EC-4E8A-8173-7E2AEBAC74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Choix du modèle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9E0442B-942A-4292-BEC9-D255EBD5A5C6}"/>
              </a:ext>
            </a:extLst>
          </p:cNvPr>
          <p:cNvSpPr/>
          <p:nvPr/>
        </p:nvSpPr>
        <p:spPr>
          <a:xfrm>
            <a:off x="1892334" y="2318443"/>
            <a:ext cx="287610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800" u="sng" dirty="0" err="1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DeepLearning</a:t>
            </a:r>
            <a:r>
              <a:rPr lang="fr-FR" sz="2800" u="sng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(DL)</a:t>
            </a:r>
            <a:endParaRPr lang="fr-FR" u="sng" dirty="0">
              <a:ln w="0"/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9767851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DCE40CE-4970-414B-B7E9-0C5C06CC03E1}"/>
              </a:ext>
            </a:extLst>
          </p:cNvPr>
          <p:cNvSpPr/>
          <p:nvPr/>
        </p:nvSpPr>
        <p:spPr>
          <a:xfrm>
            <a:off x="0" y="463740"/>
            <a:ext cx="12192000" cy="117680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F3121B3-61B9-4718-9F4D-54478DC2D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Approche DL</a:t>
            </a:r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9B6B8C30-EDAF-4758-8577-E7CFBD378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B3276-6F13-444F-83F4-2B672E324500}" type="slidenum">
              <a:rPr lang="fr-FR" smtClean="0"/>
              <a:t>9</a:t>
            </a:fld>
            <a:endParaRPr lang="fr-FR"/>
          </a:p>
        </p:txBody>
      </p:sp>
      <p:sp>
        <p:nvSpPr>
          <p:cNvPr id="9" name="Espace réservé du contenu 2">
            <a:extLst>
              <a:ext uri="{FF2B5EF4-FFF2-40B4-BE49-F238E27FC236}">
                <a16:creationId xmlns:a16="http://schemas.microsoft.com/office/drawing/2014/main" id="{5C296F25-CB1F-4BE7-B6B9-47B80A2468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960" y="1789303"/>
            <a:ext cx="10515600" cy="471646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fr-FR" sz="3000" u="sng" dirty="0"/>
              <a:t>Pipeline déjà entrepris </a:t>
            </a:r>
            <a:r>
              <a:rPr lang="fr-FR" sz="3000" u="sng" dirty="0">
                <a:sym typeface="Wingdings" panose="05000000000000000000" pitchFamily="2" charset="2"/>
              </a:rPr>
              <a:t> Questions…</a:t>
            </a:r>
          </a:p>
          <a:p>
            <a:pPr marL="0" indent="0">
              <a:buNone/>
            </a:pPr>
            <a:endParaRPr lang="fr-FR" sz="3000" dirty="0">
              <a:sym typeface="Wingdings" panose="05000000000000000000" pitchFamily="2" charset="2"/>
            </a:endParaRPr>
          </a:p>
          <a:p>
            <a:r>
              <a:rPr lang="fr-FR" sz="3000" dirty="0"/>
              <a:t>Sur quels types de signaux le modèle est-il entraîné ?</a:t>
            </a:r>
          </a:p>
          <a:p>
            <a:pPr marL="0" indent="0">
              <a:buNone/>
            </a:pPr>
            <a:r>
              <a:rPr lang="fr-FR" sz="2000" i="1" dirty="0"/>
              <a:t>(EEG brut ? EMG/ECG inclus ? Segment REM uniquement ?)</a:t>
            </a:r>
          </a:p>
          <a:p>
            <a:r>
              <a:rPr lang="fr-FR" sz="3000" dirty="0"/>
              <a:t>Est-ce qu’il y a un prétraitement de fait déjà ? </a:t>
            </a:r>
          </a:p>
          <a:p>
            <a:r>
              <a:rPr lang="fr-FR" sz="3000" dirty="0"/>
              <a:t>Les données sont-elles segmentées ? Sur quelles durées ?</a:t>
            </a:r>
          </a:p>
          <a:p>
            <a:pPr marL="0" indent="0">
              <a:buNone/>
            </a:pPr>
            <a:r>
              <a:rPr lang="fr-FR" sz="2000" i="1" dirty="0"/>
              <a:t>(57 EEG de patients avec environs 36000 sec d’enregistrement </a:t>
            </a:r>
            <a:r>
              <a:rPr lang="fr-FR" sz="2000" i="1" dirty="0">
                <a:sym typeface="Wingdings" panose="05000000000000000000" pitchFamily="2" charset="2"/>
              </a:rPr>
              <a:t> 30s : 1200 </a:t>
            </a:r>
            <a:r>
              <a:rPr lang="fr-FR" sz="2000" i="1" dirty="0" err="1">
                <a:sym typeface="Wingdings" panose="05000000000000000000" pitchFamily="2" charset="2"/>
              </a:rPr>
              <a:t>segements</a:t>
            </a:r>
            <a:r>
              <a:rPr lang="fr-FR" sz="2000" i="1" dirty="0">
                <a:sym typeface="Wingdings" panose="05000000000000000000" pitchFamily="2" charset="2"/>
              </a:rPr>
              <a:t> = limite pour du DL)</a:t>
            </a:r>
          </a:p>
          <a:p>
            <a:r>
              <a:rPr lang="fr-FR" sz="3000" dirty="0"/>
              <a:t>Quel type de réseau ?</a:t>
            </a:r>
            <a:endParaRPr lang="fr-FR" sz="3000" i="1" dirty="0"/>
          </a:p>
          <a:p>
            <a:r>
              <a:rPr lang="fr-FR" sz="3000" dirty="0"/>
              <a:t>Intégration de métadonnées dans le modèle ? (sexe, </a:t>
            </a:r>
            <a:r>
              <a:rPr lang="fr-FR" sz="3000" dirty="0" err="1"/>
              <a:t>age</a:t>
            </a:r>
            <a:r>
              <a:rPr lang="fr-FR" sz="3000" dirty="0"/>
              <a:t>, pathologie)</a:t>
            </a:r>
          </a:p>
          <a:p>
            <a:r>
              <a:rPr lang="fr-FR" sz="3000" dirty="0"/>
              <a:t>Il y a-t-il des premiers résultats ?</a:t>
            </a:r>
          </a:p>
        </p:txBody>
      </p:sp>
    </p:spTree>
    <p:extLst>
      <p:ext uri="{BB962C8B-B14F-4D97-AF65-F5344CB8AC3E}">
        <p14:creationId xmlns:p14="http://schemas.microsoft.com/office/powerpoint/2010/main" val="38767738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DCE40CE-4970-414B-B7E9-0C5C06CC03E1}"/>
              </a:ext>
            </a:extLst>
          </p:cNvPr>
          <p:cNvSpPr/>
          <p:nvPr/>
        </p:nvSpPr>
        <p:spPr>
          <a:xfrm>
            <a:off x="0" y="463740"/>
            <a:ext cx="12192000" cy="117680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F3121B3-61B9-4718-9F4D-54478DC2D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Approche ML</a:t>
            </a:r>
          </a:p>
        </p:txBody>
      </p:sp>
      <p:graphicFrame>
        <p:nvGraphicFramePr>
          <p:cNvPr id="4" name="Diagramme 3">
            <a:extLst>
              <a:ext uri="{FF2B5EF4-FFF2-40B4-BE49-F238E27FC236}">
                <a16:creationId xmlns:a16="http://schemas.microsoft.com/office/drawing/2014/main" id="{BC44B8C8-F613-4226-81E3-7E7F893FCAF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32147140"/>
              </p:ext>
            </p:extLst>
          </p:nvPr>
        </p:nvGraphicFramePr>
        <p:xfrm>
          <a:off x="2728258" y="2004048"/>
          <a:ext cx="7052235" cy="44888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9B6B8C30-EDAF-4758-8577-E7CFBD378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B3276-6F13-444F-83F4-2B672E324500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772221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DCE40CE-4970-414B-B7E9-0C5C06CC03E1}"/>
              </a:ext>
            </a:extLst>
          </p:cNvPr>
          <p:cNvSpPr/>
          <p:nvPr/>
        </p:nvSpPr>
        <p:spPr>
          <a:xfrm>
            <a:off x="0" y="463740"/>
            <a:ext cx="12192000" cy="117680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F3121B3-61B9-4718-9F4D-54478DC2D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#1 – Prétraitement des données</a:t>
            </a:r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9B6B8C30-EDAF-4758-8577-E7CFBD378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B3276-6F13-444F-83F4-2B672E324500}" type="slidenum">
              <a:rPr lang="fr-FR" smtClean="0"/>
              <a:t>11</a:t>
            </a:fld>
            <a:endParaRPr lang="fr-FR"/>
          </a:p>
        </p:txBody>
      </p:sp>
      <p:sp>
        <p:nvSpPr>
          <p:cNvPr id="6" name="Espace réservé du contenu 2">
            <a:extLst>
              <a:ext uri="{FF2B5EF4-FFF2-40B4-BE49-F238E27FC236}">
                <a16:creationId xmlns:a16="http://schemas.microsoft.com/office/drawing/2014/main" id="{75D01384-C22E-4454-9399-444A4E3926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38362"/>
            <a:ext cx="10515600" cy="4351338"/>
          </a:xfrm>
        </p:spPr>
        <p:txBody>
          <a:bodyPr/>
          <a:lstStyle/>
          <a:p>
            <a:r>
              <a:rPr lang="fr-FR" dirty="0"/>
              <a:t>Objectif : Eliminer les artéfacts (</a:t>
            </a:r>
            <a:r>
              <a:rPr lang="fr-FR" dirty="0" err="1"/>
              <a:t>impédence</a:t>
            </a:r>
            <a:r>
              <a:rPr lang="fr-FR" dirty="0"/>
              <a:t>, sueur…) et les tendances lentes non neuronales (f &lt; 1Hz)</a:t>
            </a:r>
          </a:p>
          <a:p>
            <a:endParaRPr lang="fr-FR" dirty="0"/>
          </a:p>
          <a:p>
            <a:r>
              <a:rPr lang="fr-FR" dirty="0"/>
              <a:t>Méthode : Détection des signaux ECG/EOG et suppression des artéfacts via ICA (Analyse en Composantes Indépendantes)</a:t>
            </a:r>
          </a:p>
          <a:p>
            <a:endParaRPr lang="fr-FR" dirty="0"/>
          </a:p>
          <a:p>
            <a:r>
              <a:rPr lang="fr-FR" dirty="0"/>
              <a:t>Outils : Librairie MNE-python + ICA</a:t>
            </a:r>
          </a:p>
          <a:p>
            <a:endParaRPr lang="fr-FR" dirty="0"/>
          </a:p>
          <a:p>
            <a:r>
              <a:rPr lang="fr-FR" dirty="0"/>
              <a:t>Aube possède un code déjà fait </a:t>
            </a:r>
            <a:r>
              <a:rPr lang="fr-FR" dirty="0">
                <a:sym typeface="Wingdings" panose="05000000000000000000" pitchFamily="2" charset="2"/>
              </a:rPr>
              <a:t> Comparaison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852326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DCE40CE-4970-414B-B7E9-0C5C06CC03E1}"/>
              </a:ext>
            </a:extLst>
          </p:cNvPr>
          <p:cNvSpPr/>
          <p:nvPr/>
        </p:nvSpPr>
        <p:spPr>
          <a:xfrm>
            <a:off x="0" y="463740"/>
            <a:ext cx="12192000" cy="117680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F3121B3-61B9-4718-9F4D-54478DC2D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#2 – Extraction des caractéristiques</a:t>
            </a:r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9B6B8C30-EDAF-4758-8577-E7CFBD378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B3276-6F13-444F-83F4-2B672E324500}" type="slidenum">
              <a:rPr lang="fr-FR" smtClean="0"/>
              <a:t>12</a:t>
            </a:fld>
            <a:endParaRPr lang="fr-F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F383034-6A73-46E6-8D40-7A0D79A2CF10}"/>
              </a:ext>
            </a:extLst>
          </p:cNvPr>
          <p:cNvSpPr/>
          <p:nvPr/>
        </p:nvSpPr>
        <p:spPr>
          <a:xfrm>
            <a:off x="405424" y="1789303"/>
            <a:ext cx="1097633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800" dirty="0">
                <a:solidFill>
                  <a:prstClr val="black"/>
                </a:solidFill>
              </a:rPr>
              <a:t>Quelques articles traitent des méthodes d’extraction des caractéristiques: </a:t>
            </a:r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8BC1F028-5567-443F-8BCB-B46B879519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532802"/>
            <a:ext cx="2808062" cy="374556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8BE1B8B-7FDE-4C7A-BB59-B7AE78C3C6AF}"/>
              </a:ext>
            </a:extLst>
          </p:cNvPr>
          <p:cNvSpPr/>
          <p:nvPr/>
        </p:nvSpPr>
        <p:spPr>
          <a:xfrm>
            <a:off x="617699" y="6354375"/>
            <a:ext cx="310623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20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https://doi.org/10.1186/s40779-023-00502-7</a:t>
            </a:r>
            <a:r>
              <a:rPr lang="fr-FR" sz="1200" dirty="0"/>
              <a:t>  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681566DD-F65B-45CC-BBA7-E42D78FA92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1446" y="2532802"/>
            <a:ext cx="2616394" cy="374660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F96087A-BA34-4FD4-A6FC-AA2EF67DE570}"/>
              </a:ext>
            </a:extLst>
          </p:cNvPr>
          <p:cNvSpPr/>
          <p:nvPr/>
        </p:nvSpPr>
        <p:spPr>
          <a:xfrm>
            <a:off x="4097228" y="6394260"/>
            <a:ext cx="292009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200" dirty="0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https://doi.org/10.3389/frai.2022.1072801</a:t>
            </a:r>
            <a:r>
              <a:rPr lang="fr-FR" sz="1200" dirty="0"/>
              <a:t> </a:t>
            </a: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28D0DF34-6315-46A7-B938-B2FA9EB0B8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03103" y="2532801"/>
            <a:ext cx="2641045" cy="374556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9F6410F0-4B48-459B-B367-A47E17DC3C4D}"/>
              </a:ext>
            </a:extLst>
          </p:cNvPr>
          <p:cNvSpPr/>
          <p:nvPr/>
        </p:nvSpPr>
        <p:spPr>
          <a:xfrm>
            <a:off x="7663731" y="6354375"/>
            <a:ext cx="310623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International Journal of Engineering Research &amp; Technology (IJERT)</a:t>
            </a:r>
            <a:endParaRPr lang="fr-FR" sz="1200" dirty="0"/>
          </a:p>
        </p:txBody>
      </p:sp>
    </p:spTree>
    <p:extLst>
      <p:ext uri="{BB962C8B-B14F-4D97-AF65-F5344CB8AC3E}">
        <p14:creationId xmlns:p14="http://schemas.microsoft.com/office/powerpoint/2010/main" val="22518188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DCE40CE-4970-414B-B7E9-0C5C06CC03E1}"/>
              </a:ext>
            </a:extLst>
          </p:cNvPr>
          <p:cNvSpPr/>
          <p:nvPr/>
        </p:nvSpPr>
        <p:spPr>
          <a:xfrm>
            <a:off x="0" y="463740"/>
            <a:ext cx="12192000" cy="117680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F3121B3-61B9-4718-9F4D-54478DC2D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#3 – Construction du modèle</a:t>
            </a:r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9B6B8C30-EDAF-4758-8577-E7CFBD378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B3276-6F13-444F-83F4-2B672E324500}" type="slidenum">
              <a:rPr lang="fr-FR" smtClean="0"/>
              <a:t>13</a:t>
            </a:fld>
            <a:endParaRPr lang="fr-FR"/>
          </a:p>
        </p:txBody>
      </p:sp>
      <p:sp>
        <p:nvSpPr>
          <p:cNvPr id="14" name="Espace réservé du contenu 2">
            <a:extLst>
              <a:ext uri="{FF2B5EF4-FFF2-40B4-BE49-F238E27FC236}">
                <a16:creationId xmlns:a16="http://schemas.microsoft.com/office/drawing/2014/main" id="{8CBF67AC-5043-4094-B4E0-233F583F61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7080" y="2005012"/>
            <a:ext cx="1051560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FR" dirty="0"/>
              <a:t>Modèles classiques à comparer </a:t>
            </a:r>
            <a:r>
              <a:rPr lang="fr-FR" dirty="0" err="1"/>
              <a:t>entre-eux</a:t>
            </a:r>
            <a:r>
              <a:rPr lang="fr-FR" dirty="0"/>
              <a:t> pour les résultats:</a:t>
            </a:r>
          </a:p>
          <a:p>
            <a:pPr marL="0" indent="0">
              <a:buNone/>
            </a:pPr>
            <a:endParaRPr lang="fr-FR" dirty="0"/>
          </a:p>
          <a:p>
            <a:r>
              <a:rPr lang="fr-FR" dirty="0" err="1"/>
              <a:t>Random</a:t>
            </a:r>
            <a:r>
              <a:rPr lang="fr-FR" dirty="0"/>
              <a:t> Forest </a:t>
            </a:r>
            <a:r>
              <a:rPr lang="fr-FR" dirty="0">
                <a:sym typeface="Wingdings" panose="05000000000000000000" pitchFamily="2" charset="2"/>
              </a:rPr>
              <a:t> </a:t>
            </a:r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SVM </a:t>
            </a:r>
            <a:r>
              <a:rPr lang="fr-FR" dirty="0">
                <a:sym typeface="Wingdings" panose="05000000000000000000" pitchFamily="2" charset="2"/>
              </a:rPr>
              <a:t> </a:t>
            </a:r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 err="1"/>
              <a:t>Xgboost</a:t>
            </a:r>
            <a:r>
              <a:rPr lang="fr-FR" dirty="0"/>
              <a:t> </a:t>
            </a:r>
            <a:r>
              <a:rPr lang="fr-FR" dirty="0">
                <a:sym typeface="Wingdings" panose="05000000000000000000" pitchFamily="2" charset="2"/>
              </a:rPr>
              <a:t> </a:t>
            </a:r>
            <a:endParaRPr lang="fr-FR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95CFDCE1-5AA5-4032-ACEF-1FF79E90C95C}"/>
              </a:ext>
            </a:extLst>
          </p:cNvPr>
          <p:cNvSpPr txBox="1"/>
          <p:nvPr/>
        </p:nvSpPr>
        <p:spPr>
          <a:xfrm>
            <a:off x="3870960" y="2513047"/>
            <a:ext cx="6979920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i="1" dirty="0"/>
              <a:t>= ensemble d’arbres de décision, construits sur des sous-échantillons des données avec des sous-ensembles de variables. La prédiction finale est une moyenne (régression) ou un vote majoritaire (classification) entre tous les arbres. </a:t>
            </a:r>
            <a:r>
              <a:rPr lang="fr-FR" i="1" dirty="0">
                <a:solidFill>
                  <a:srgbClr val="FF0000"/>
                </a:solidFill>
                <a:sym typeface="Wingdings" panose="05000000000000000000" pitchFamily="2" charset="2"/>
              </a:rPr>
              <a:t> </a:t>
            </a:r>
            <a:r>
              <a:rPr lang="fr-FR" i="1" dirty="0">
                <a:solidFill>
                  <a:srgbClr val="FF0000"/>
                </a:solidFill>
              </a:rPr>
              <a:t>modèle robuste au surapprentissage.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1375261A-DC02-4359-B0AD-78298BF54BCA}"/>
              </a:ext>
            </a:extLst>
          </p:cNvPr>
          <p:cNvSpPr txBox="1"/>
          <p:nvPr/>
        </p:nvSpPr>
        <p:spPr>
          <a:xfrm>
            <a:off x="2717800" y="3893198"/>
            <a:ext cx="6979920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i="1" dirty="0"/>
              <a:t>= cherche une frontière de séparation optimale entre les classes, en maximisant la marge entre les points les plus proches de chaque classe. </a:t>
            </a:r>
            <a:r>
              <a:rPr lang="fr-FR" i="1" dirty="0">
                <a:solidFill>
                  <a:srgbClr val="FF0000"/>
                </a:solidFill>
                <a:sym typeface="Wingdings" panose="05000000000000000000" pitchFamily="2" charset="2"/>
              </a:rPr>
              <a:t> </a:t>
            </a:r>
            <a:r>
              <a:rPr lang="fr-FR" i="1" dirty="0">
                <a:solidFill>
                  <a:srgbClr val="FF0000"/>
                </a:solidFill>
              </a:rPr>
              <a:t>peut aussi utiliser des fonctions noyaux pour gérer des données non linéaires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F552FA99-93AD-4AA6-9536-8BE8604A8ABD}"/>
              </a:ext>
            </a:extLst>
          </p:cNvPr>
          <p:cNvSpPr txBox="1"/>
          <p:nvPr/>
        </p:nvSpPr>
        <p:spPr>
          <a:xfrm>
            <a:off x="3002280" y="5303362"/>
            <a:ext cx="6979920" cy="1477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i="1" dirty="0"/>
              <a:t>=  modèle d’arbres de décision enchaînés (</a:t>
            </a:r>
            <a:r>
              <a:rPr lang="fr-FR" i="1" dirty="0" err="1"/>
              <a:t>boosting</a:t>
            </a:r>
            <a:r>
              <a:rPr lang="fr-FR" i="1" dirty="0"/>
              <a:t>), où chaque nouvel arbre apprend à corriger les erreurs du précédent. </a:t>
            </a:r>
            <a:r>
              <a:rPr lang="fr-FR" i="1" dirty="0">
                <a:solidFill>
                  <a:srgbClr val="FF0000"/>
                </a:solidFill>
                <a:sym typeface="Wingdings" panose="05000000000000000000" pitchFamily="2" charset="2"/>
              </a:rPr>
              <a:t> </a:t>
            </a:r>
            <a:r>
              <a:rPr lang="fr-FR" i="1" dirty="0">
                <a:solidFill>
                  <a:srgbClr val="FF0000"/>
                </a:solidFill>
              </a:rPr>
              <a:t>très performant, rapide, dispose de régularisations intégrées pour éviter le surapprentissage mais surtout = capture mieux les non-linéarités-complexes</a:t>
            </a:r>
          </a:p>
        </p:txBody>
      </p:sp>
    </p:spTree>
    <p:extLst>
      <p:ext uri="{BB962C8B-B14F-4D97-AF65-F5344CB8AC3E}">
        <p14:creationId xmlns:p14="http://schemas.microsoft.com/office/powerpoint/2010/main" val="10632791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DCE40CE-4970-414B-B7E9-0C5C06CC03E1}"/>
              </a:ext>
            </a:extLst>
          </p:cNvPr>
          <p:cNvSpPr/>
          <p:nvPr/>
        </p:nvSpPr>
        <p:spPr>
          <a:xfrm>
            <a:off x="0" y="463740"/>
            <a:ext cx="12192000" cy="117680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F3121B3-61B9-4718-9F4D-54478DC2D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Questions</a:t>
            </a:r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9B6B8C30-EDAF-4758-8577-E7CFBD378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B3276-6F13-444F-83F4-2B672E324500}" type="slidenum">
              <a:rPr lang="fr-FR" smtClean="0"/>
              <a:t>14</a:t>
            </a:fld>
            <a:endParaRPr lang="fr-FR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C4F21B5C-251B-4CC1-B2D5-45E3C3B00B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9255" y="2014818"/>
            <a:ext cx="3445149" cy="452409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F0D6CF6E-DE5E-4738-A82C-FE177E82C1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468" y="1786544"/>
            <a:ext cx="3415825" cy="452409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Espace réservé du contenu 2">
            <a:extLst>
              <a:ext uri="{FF2B5EF4-FFF2-40B4-BE49-F238E27FC236}">
                <a16:creationId xmlns:a16="http://schemas.microsoft.com/office/drawing/2014/main" id="{EB117DD1-25FF-408F-BDAD-0AC61BD96D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15989" y="2127344"/>
            <a:ext cx="6169051" cy="4229006"/>
          </a:xfrm>
        </p:spPr>
        <p:txBody>
          <a:bodyPr>
            <a:normAutofit lnSpcReduction="10000"/>
          </a:bodyPr>
          <a:lstStyle/>
          <a:p>
            <a:r>
              <a:rPr lang="fr-FR" dirty="0"/>
              <a:t>But : Développer une méthode de classification des stades du sommeil (pour identifier REM) à partir d’un seul canal EEG en exploitant la microstructure du REM.</a:t>
            </a:r>
          </a:p>
          <a:p>
            <a:endParaRPr lang="fr-FR" dirty="0"/>
          </a:p>
          <a:p>
            <a:r>
              <a:rPr lang="fr-FR" dirty="0"/>
              <a:t>Résultats : REM détecté avec bonne précision même avec un seul canal EEG</a:t>
            </a:r>
          </a:p>
          <a:p>
            <a:pPr marL="0" indent="0">
              <a:buNone/>
            </a:pPr>
            <a:r>
              <a:rPr lang="fr-FR" dirty="0"/>
              <a:t> </a:t>
            </a:r>
            <a:r>
              <a:rPr lang="fr-FR" dirty="0">
                <a:sym typeface="Wingdings" panose="05000000000000000000" pitchFamily="2" charset="2"/>
              </a:rPr>
              <a:t> Extraction de 164 </a:t>
            </a:r>
            <a:r>
              <a:rPr lang="fr-FR" dirty="0" err="1">
                <a:sym typeface="Wingdings" panose="05000000000000000000" pitchFamily="2" charset="2"/>
              </a:rPr>
              <a:t>features</a:t>
            </a:r>
            <a:endParaRPr lang="fr-FR" dirty="0"/>
          </a:p>
          <a:p>
            <a:pPr marL="0" indent="0">
              <a:buNone/>
            </a:pPr>
            <a:r>
              <a:rPr lang="fr-FR" dirty="0"/>
              <a:t> </a:t>
            </a:r>
            <a:r>
              <a:rPr lang="fr-FR" dirty="0">
                <a:sym typeface="Wingdings" panose="05000000000000000000" pitchFamily="2" charset="2"/>
              </a:rPr>
              <a:t> F1-score ~0,83 (</a:t>
            </a:r>
            <a:r>
              <a:rPr lang="fr-FR" dirty="0" err="1">
                <a:sym typeface="Wingdings" panose="05000000000000000000" pitchFamily="2" charset="2"/>
              </a:rPr>
              <a:t>Random</a:t>
            </a:r>
            <a:r>
              <a:rPr lang="fr-FR" dirty="0">
                <a:sym typeface="Wingdings" panose="05000000000000000000" pitchFamily="2" charset="2"/>
              </a:rPr>
              <a:t> Forest)</a:t>
            </a:r>
          </a:p>
        </p:txBody>
      </p:sp>
    </p:spTree>
    <p:extLst>
      <p:ext uri="{BB962C8B-B14F-4D97-AF65-F5344CB8AC3E}">
        <p14:creationId xmlns:p14="http://schemas.microsoft.com/office/powerpoint/2010/main" val="15307448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DCE40CE-4970-414B-B7E9-0C5C06CC03E1}"/>
              </a:ext>
            </a:extLst>
          </p:cNvPr>
          <p:cNvSpPr/>
          <p:nvPr/>
        </p:nvSpPr>
        <p:spPr>
          <a:xfrm>
            <a:off x="0" y="463740"/>
            <a:ext cx="12192000" cy="117680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F3121B3-61B9-4718-9F4D-54478DC2D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Questions</a:t>
            </a:r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9B6B8C30-EDAF-4758-8577-E7CFBD378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B3276-6F13-444F-83F4-2B672E324500}" type="slidenum">
              <a:rPr lang="fr-FR" smtClean="0"/>
              <a:t>15</a:t>
            </a:fld>
            <a:endParaRPr lang="fr-FR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C4F21B5C-251B-4CC1-B2D5-45E3C3B00B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9255" y="2014818"/>
            <a:ext cx="3445149" cy="452409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F0D6CF6E-DE5E-4738-A82C-FE177E82C1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468" y="1786544"/>
            <a:ext cx="3415825" cy="452409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Espace réservé du contenu 2">
            <a:extLst>
              <a:ext uri="{FF2B5EF4-FFF2-40B4-BE49-F238E27FC236}">
                <a16:creationId xmlns:a16="http://schemas.microsoft.com/office/drawing/2014/main" id="{EB117DD1-25FF-408F-BDAD-0AC61BD96D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33918" y="2644589"/>
            <a:ext cx="6169051" cy="2263260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fr-FR" b="1" dirty="0">
                <a:sym typeface="Wingdings" panose="05000000000000000000" pitchFamily="2" charset="2"/>
              </a:rPr>
              <a:t>Une telle approche automatisée avec un classifieur serait-elle souhaitable ? </a:t>
            </a:r>
          </a:p>
        </p:txBody>
      </p:sp>
    </p:spTree>
    <p:extLst>
      <p:ext uri="{BB962C8B-B14F-4D97-AF65-F5344CB8AC3E}">
        <p14:creationId xmlns:p14="http://schemas.microsoft.com/office/powerpoint/2010/main" val="15904041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193</TotalTime>
  <Words>805</Words>
  <Application>Microsoft Office PowerPoint</Application>
  <PresentationFormat>Grand écran</PresentationFormat>
  <Paragraphs>116</Paragraphs>
  <Slides>15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Wingdings</vt:lpstr>
      <vt:lpstr>Thème Office</vt:lpstr>
      <vt:lpstr>Analyse de signaux neurophysiologiques dans le Trouble du Comportement en Sommeil Paradoxal (TCSP)</vt:lpstr>
      <vt:lpstr>Contexte</vt:lpstr>
      <vt:lpstr>Contexte</vt:lpstr>
      <vt:lpstr>Problématique</vt:lpstr>
      <vt:lpstr>Choix du modèle</vt:lpstr>
      <vt:lpstr>Choix du modèle</vt:lpstr>
      <vt:lpstr>Choix du modèle</vt:lpstr>
      <vt:lpstr>Choix du modèle</vt:lpstr>
      <vt:lpstr>Approche DL</vt:lpstr>
      <vt:lpstr>Approche ML</vt:lpstr>
      <vt:lpstr>#1 – Prétraitement des données</vt:lpstr>
      <vt:lpstr>#2 – Extraction des caractéristiques</vt:lpstr>
      <vt:lpstr>#3 – Construction du modèle</vt:lpstr>
      <vt:lpstr>Questions</vt:lpstr>
      <vt:lpstr>Questions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Analyse de signaux neurophysiologiques dans le Trouble du Comportement en Sommeil Paradoxal (TCSP)</dc:title>
  <dc:creator>Darryl Dessalines</dc:creator>
  <cp:lastModifiedBy>Darryl Dessalines</cp:lastModifiedBy>
  <cp:revision>17</cp:revision>
  <dcterms:created xsi:type="dcterms:W3CDTF">2025-07-06T10:21:27Z</dcterms:created>
  <dcterms:modified xsi:type="dcterms:W3CDTF">2025-07-06T13:35:20Z</dcterms:modified>
</cp:coreProperties>
</file>